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70" r:id="rId5"/>
    <p:sldId id="269" r:id="rId6"/>
    <p:sldId id="260" r:id="rId7"/>
    <p:sldId id="261" r:id="rId8"/>
    <p:sldId id="266" r:id="rId9"/>
    <p:sldId id="267" r:id="rId10"/>
    <p:sldId id="263" r:id="rId11"/>
    <p:sldId id="268" r:id="rId12"/>
    <p:sldId id="264" r:id="rId13"/>
    <p:sldId id="265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49" autoAdjust="0"/>
  </p:normalViewPr>
  <p:slideViewPr>
    <p:cSldViewPr snapToGrid="0">
      <p:cViewPr varScale="1">
        <p:scale>
          <a:sx n="192" d="100"/>
          <a:sy n="192" d="100"/>
        </p:scale>
        <p:origin x="816" y="1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dabd55fb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59" name="Google Shape;59;gdabd55fb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dabd55fb2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65" name="Google Shape;65;gdabd55fb2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8347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A380101B-FF3D-29F6-3DFD-0EB9BFAB2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dabd55fb20_0_15:notes">
            <a:extLst>
              <a:ext uri="{FF2B5EF4-FFF2-40B4-BE49-F238E27FC236}">
                <a16:creationId xmlns:a16="http://schemas.microsoft.com/office/drawing/2014/main" id="{0AAAA66E-7A7F-11BB-F046-E59A60D633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71" name="Google Shape;71;gdabd55fb20_0_15:notes">
            <a:extLst>
              <a:ext uri="{FF2B5EF4-FFF2-40B4-BE49-F238E27FC236}">
                <a16:creationId xmlns:a16="http://schemas.microsoft.com/office/drawing/2014/main" id="{A2D2D544-68BD-D51F-7B28-DBADE64275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5327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dabd55fb2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77" name="Google Shape;77;gdabd55fb2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52527e0a1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83" name="Google Shape;83;g3552527e0a1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C24D11D5-909D-B567-263B-CD2E591E3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52527e0a1_1_0:notes">
            <a:extLst>
              <a:ext uri="{FF2B5EF4-FFF2-40B4-BE49-F238E27FC236}">
                <a16:creationId xmlns:a16="http://schemas.microsoft.com/office/drawing/2014/main" id="{AFB76F5B-A748-39B3-4316-DE2A7F2C61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89" name="Google Shape;89;g3552527e0a1_1_0:notes">
            <a:extLst>
              <a:ext uri="{FF2B5EF4-FFF2-40B4-BE49-F238E27FC236}">
                <a16:creationId xmlns:a16="http://schemas.microsoft.com/office/drawing/2014/main" id="{CF982FC0-9EF7-485D-C1F7-9E2FED0C69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5272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61BD3947-C1E8-DC48-8F67-C6EA98F8B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52527e0a1_1_0:notes">
            <a:extLst>
              <a:ext uri="{FF2B5EF4-FFF2-40B4-BE49-F238E27FC236}">
                <a16:creationId xmlns:a16="http://schemas.microsoft.com/office/drawing/2014/main" id="{B5AEF8AC-09B0-0057-12A9-F9FC8E8B4B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89" name="Google Shape;89;g3552527e0a1_1_0:notes">
            <a:extLst>
              <a:ext uri="{FF2B5EF4-FFF2-40B4-BE49-F238E27FC236}">
                <a16:creationId xmlns:a16="http://schemas.microsoft.com/office/drawing/2014/main" id="{5682DA1C-92D4-F969-3AC6-CC70A57A42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4705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dabd55fb2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95" name="Google Shape;95;gdabd55fb2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ru-R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242D896F-8F5A-6E6B-9193-2507ABC2E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dabd55fb20_0_25:notes">
            <a:extLst>
              <a:ext uri="{FF2B5EF4-FFF2-40B4-BE49-F238E27FC236}">
                <a16:creationId xmlns:a16="http://schemas.microsoft.com/office/drawing/2014/main" id="{77A05370-6C6D-BCAC-C83C-3C05465336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95" name="Google Shape;95;gdabd55fb20_0_25:notes">
            <a:extLst>
              <a:ext uri="{FF2B5EF4-FFF2-40B4-BE49-F238E27FC236}">
                <a16:creationId xmlns:a16="http://schemas.microsoft.com/office/drawing/2014/main" id="{E155E6AB-440C-6B77-3ED8-CE126B273B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3137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dabd55fb2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101" name="Google Shape;101;gdabd55fb2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52527e0a1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107" name="Google Shape;107;g3552527e0a1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692" y="143545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Тема: Алгоритмический онлайн-трейдинг с использованием технологий искусственного интеллекта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692" y="4316822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Петров К.Ю.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БСБО-06-22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Романец А.В.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692" y="1272235"/>
            <a:ext cx="8520600" cy="59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SzPts val="990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кибербезопасности и цифровых технологий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КБ-14 «Цифровые технологии обработки данных»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B7EFB6-EFCE-A153-2421-2298C2716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897" y="0"/>
            <a:ext cx="1024190" cy="11246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079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450554" y="933031"/>
            <a:ext cx="8520600" cy="7789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Краткосрочная торговля на финансовом рынке требует быстрой обработки рыночных данных и принятия решений с учётом комиссий, спреда и риска.</a:t>
            </a:r>
          </a:p>
        </p:txBody>
      </p:sp>
      <p:sp>
        <p:nvSpPr>
          <p:cNvPr id="4" name="Google Shape;61;p14">
            <a:extLst>
              <a:ext uri="{FF2B5EF4-FFF2-40B4-BE49-F238E27FC236}">
                <a16:creationId xmlns:a16="http://schemas.microsoft.com/office/drawing/2014/main" id="{007F968C-CC83-8DAF-D6F1-57DFAC497B6B}"/>
              </a:ext>
            </a:extLst>
          </p:cNvPr>
          <p:cNvSpPr txBox="1">
            <a:spLocks/>
          </p:cNvSpPr>
          <p:nvPr/>
        </p:nvSpPr>
        <p:spPr>
          <a:xfrm>
            <a:off x="311700" y="166665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Предметная</a:t>
            </a:r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область:</a:t>
            </a:r>
          </a:p>
        </p:txBody>
      </p:sp>
      <p:sp>
        <p:nvSpPr>
          <p:cNvPr id="10" name="Google Shape;61;p14">
            <a:extLst>
              <a:ext uri="{FF2B5EF4-FFF2-40B4-BE49-F238E27FC236}">
                <a16:creationId xmlns:a16="http://schemas.microsoft.com/office/drawing/2014/main" id="{218A508E-1C55-91DD-04B6-EA81F8FE08DD}"/>
              </a:ext>
            </a:extLst>
          </p:cNvPr>
          <p:cNvSpPr txBox="1">
            <a:spLocks/>
          </p:cNvSpPr>
          <p:nvPr/>
        </p:nvSpPr>
        <p:spPr>
          <a:xfrm>
            <a:off x="450554" y="2216897"/>
            <a:ext cx="8520600" cy="61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Алгоритмический онлайн-трейдинг ликвидных акций Московской биржи на основе минутных данных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OHLCV</a:t>
            </a:r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Google Shape;61;p14">
            <a:extLst>
              <a:ext uri="{FF2B5EF4-FFF2-40B4-BE49-F238E27FC236}">
                <a16:creationId xmlns:a16="http://schemas.microsoft.com/office/drawing/2014/main" id="{933E4961-A895-3FB3-54CF-213D9304593B}"/>
              </a:ext>
            </a:extLst>
          </p:cNvPr>
          <p:cNvSpPr txBox="1">
            <a:spLocks/>
          </p:cNvSpPr>
          <p:nvPr/>
        </p:nvSpPr>
        <p:spPr>
          <a:xfrm>
            <a:off x="311700" y="2934111"/>
            <a:ext cx="8520600" cy="61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Мотивация</a:t>
            </a:r>
            <a:r>
              <a:rPr lang="ru-RU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2" name="Google Shape;61;p14">
            <a:extLst>
              <a:ext uri="{FF2B5EF4-FFF2-40B4-BE49-F238E27FC236}">
                <a16:creationId xmlns:a16="http://schemas.microsoft.com/office/drawing/2014/main" id="{EACC9673-60B5-E1E7-50FC-2DC6ED3C5CC6}"/>
              </a:ext>
            </a:extLst>
          </p:cNvPr>
          <p:cNvSpPr txBox="1">
            <a:spLocks/>
          </p:cNvSpPr>
          <p:nvPr/>
        </p:nvSpPr>
        <p:spPr>
          <a:xfrm>
            <a:off x="450554" y="3472706"/>
            <a:ext cx="8520600" cy="965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 цены сам по себе недостаточен: необходимо преобразовать прогноз в торговое действие с учётом реальных ограничений рынка. Поэтому в работе разделяются прогнозирование и принятие решений.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DA5FB3A-9AB5-08E1-83B7-1034BC2005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4"/>
            <a:ext cx="8520600" cy="9478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 повышение эффективности алгоритмического трейдинга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392919"/>
            <a:ext cx="8520600" cy="31759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342900" lvl="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предметную область и существующие подходы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lvl="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Подготовить минутные данные по ликвидным акциям Московской биржи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модели прогнозирования доходности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lvl="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модуль принятия торговых решений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историческое тестирование стратегий.</a:t>
            </a:r>
          </a:p>
          <a:p>
            <a:pPr marL="342900" lvl="0">
              <a:buFont typeface="+mj-lt"/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2AB655C-A9E4-181F-1B02-20662E4851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6937B550-B490-E334-D0C0-CEB3B6C90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9A81207-E4B4-151D-0C5F-5DF1A9CC42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7078B-B912-5E49-9145-29193856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выполнения работы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66B09-1390-E75C-6FA9-86761AC638A1}"/>
              </a:ext>
            </a:extLst>
          </p:cNvPr>
          <p:cNvSpPr txBox="1"/>
          <p:nvPr/>
        </p:nvSpPr>
        <p:spPr>
          <a:xfrm>
            <a:off x="395868" y="1263988"/>
            <a:ext cx="35906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эффективности заключается в создании единого модуля принятия решений и предложении стратегий на основе искусственного интеллекта – методы машинного обучения и нейросетевые модели.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взяты существующие стратегии на основе правил и предложены ИИ подходы, которые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имеют более высокую предсказательную силу.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Общий контур решения представлен на диаграмме вариантов использования</a:t>
            </a:r>
          </a:p>
        </p:txBody>
      </p:sp>
      <p:pic>
        <p:nvPicPr>
          <p:cNvPr id="6" name="Рисунок 5" descr="PlantUML diagram">
            <a:extLst>
              <a:ext uri="{FF2B5EF4-FFF2-40B4-BE49-F238E27FC236}">
                <a16:creationId xmlns:a16="http://schemas.microsoft.com/office/drawing/2014/main" id="{7EA84374-0303-580E-D954-2232B2DD8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52475"/>
            <a:ext cx="3419125" cy="385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884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39C047DD-5203-4C43-5A2C-CE3A00FF5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58903E45-3EAE-7775-8C5F-032778361B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методов прогнозирования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ACA3AA35-A51E-AFB7-0E02-07C62F9A7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986330"/>
              </p:ext>
            </p:extLst>
          </p:nvPr>
        </p:nvGraphicFramePr>
        <p:xfrm>
          <a:off x="352840" y="1348155"/>
          <a:ext cx="8366440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1417">
                  <a:extLst>
                    <a:ext uri="{9D8B030D-6E8A-4147-A177-3AD203B41FA5}">
                      <a16:colId xmlns:a16="http://schemas.microsoft.com/office/drawing/2014/main" val="2557347617"/>
                    </a:ext>
                  </a:extLst>
                </a:gridCol>
                <a:gridCol w="1122837">
                  <a:extLst>
                    <a:ext uri="{9D8B030D-6E8A-4147-A177-3AD203B41FA5}">
                      <a16:colId xmlns:a16="http://schemas.microsoft.com/office/drawing/2014/main" val="2319195195"/>
                    </a:ext>
                  </a:extLst>
                </a:gridCol>
                <a:gridCol w="1292371">
                  <a:extLst>
                    <a:ext uri="{9D8B030D-6E8A-4147-A177-3AD203B41FA5}">
                      <a16:colId xmlns:a16="http://schemas.microsoft.com/office/drawing/2014/main" val="100269759"/>
                    </a:ext>
                  </a:extLst>
                </a:gridCol>
                <a:gridCol w="1689652">
                  <a:extLst>
                    <a:ext uri="{9D8B030D-6E8A-4147-A177-3AD203B41FA5}">
                      <a16:colId xmlns:a16="http://schemas.microsoft.com/office/drawing/2014/main" val="1914388555"/>
                    </a:ext>
                  </a:extLst>
                </a:gridCol>
                <a:gridCol w="1333420">
                  <a:extLst>
                    <a:ext uri="{9D8B030D-6E8A-4147-A177-3AD203B41FA5}">
                      <a16:colId xmlns:a16="http://schemas.microsoft.com/office/drawing/2014/main" val="1650913469"/>
                    </a:ext>
                  </a:extLst>
                </a:gridCol>
                <a:gridCol w="1526743">
                  <a:extLst>
                    <a:ext uri="{9D8B030D-6E8A-4147-A177-3AD203B41FA5}">
                      <a16:colId xmlns:a16="http://schemas.microsoft.com/office/drawing/2014/main" val="824048194"/>
                    </a:ext>
                  </a:extLst>
                </a:gridCol>
              </a:tblGrid>
              <a:tr h="63225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Интерпре-тируемость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Учёт сложных зависимостей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Требовательность к данным и настройке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Устойчивость к шуму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Вычислитель-ная сложность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82096"/>
                  </a:ext>
                </a:extLst>
              </a:tr>
              <a:tr h="375128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Методы на основе правил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Низкий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896190"/>
                  </a:ext>
                </a:extLst>
              </a:tr>
              <a:tr h="375128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Методы машинного обучения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Средний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483280"/>
                  </a:ext>
                </a:extLst>
              </a:tr>
              <a:tr h="375128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Нейросетевые методы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561469"/>
                  </a:ext>
                </a:extLst>
              </a:tr>
            </a:tbl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233AC53-EC45-44D4-B69B-72A381CA68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126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подготовки данных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59C7F27-2308-DF44-2AF3-ACA6BF3175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98F67C-3362-1CB8-D39F-74257B852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1A61EB-34D1-B331-2215-1FE4CFEB08B9}"/>
              </a:ext>
            </a:extLst>
          </p:cNvPr>
          <p:cNvSpPr txBox="1"/>
          <p:nvPr/>
        </p:nvSpPr>
        <p:spPr>
          <a:xfrm>
            <a:off x="576693" y="1148401"/>
            <a:ext cx="39953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и обработка данных были разделены в последовательные компоненты, образующие единый конвейер.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568C4F-8350-4572-7E48-28234FC106BB}"/>
              </a:ext>
            </a:extLst>
          </p:cNvPr>
          <p:cNvSpPr txBox="1"/>
          <p:nvPr/>
        </p:nvSpPr>
        <p:spPr>
          <a:xfrm>
            <a:off x="576693" y="2314595"/>
            <a:ext cx="39953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из пунктов был реализован при помощи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скриптов, позволяя вносить изменения в любом месте конвейера.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14C5A3-03B1-D1A6-6D21-0F2A647067D9}"/>
              </a:ext>
            </a:extLst>
          </p:cNvPr>
          <p:cNvSpPr txBox="1"/>
          <p:nvPr/>
        </p:nvSpPr>
        <p:spPr>
          <a:xfrm>
            <a:off x="576692" y="3366587"/>
            <a:ext cx="39953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итоге был сформирован единый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parquet-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файл, содержащий данные, готовые для обучения моделей, подбора параметров и тестирования.</a:t>
            </a:r>
          </a:p>
        </p:txBody>
      </p:sp>
      <p:pic>
        <p:nvPicPr>
          <p:cNvPr id="3" name="Рисунок 2" descr="PlantUML diagram">
            <a:extLst>
              <a:ext uri="{FF2B5EF4-FFF2-40B4-BE49-F238E27FC236}">
                <a16:creationId xmlns:a16="http://schemas.microsoft.com/office/drawing/2014/main" id="{35A785DF-B5BD-2F83-B864-1DB5A6E54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7" y="1148400"/>
            <a:ext cx="3807512" cy="39950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PlantUML diagram">
            <a:extLst>
              <a:ext uri="{FF2B5EF4-FFF2-40B4-BE49-F238E27FC236}">
                <a16:creationId xmlns:a16="http://schemas.microsoft.com/office/drawing/2014/main" id="{F7DD3540-E4C4-77B9-C453-12F942145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63" y="1479873"/>
            <a:ext cx="8436545" cy="2761603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C47A364-9713-6E00-D534-2C7320E8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прогнозирования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4003B6A-9026-03AB-6830-62F25E4D20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CC87F97C-BC01-E6EB-74D2-81FC32A3C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2FEFE4-F0BF-9763-F273-C71A2BE981DF}"/>
              </a:ext>
            </a:extLst>
          </p:cNvPr>
          <p:cNvSpPr txBox="1"/>
          <p:nvPr/>
        </p:nvSpPr>
        <p:spPr>
          <a:xfrm>
            <a:off x="4923263" y="1603230"/>
            <a:ext cx="30651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разделена на два модуля: модуль прогнозирования и модуль принятия решений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2ECFBE8A-78D8-6862-2EE4-1111F47E6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>
            <a:extLst>
              <a:ext uri="{FF2B5EF4-FFF2-40B4-BE49-F238E27FC236}">
                <a16:creationId xmlns:a16="http://schemas.microsoft.com/office/drawing/2014/main" id="{999E019B-5396-0992-D3A2-0E41712440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прогнозирования торговой системы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p19">
            <a:extLst>
              <a:ext uri="{FF2B5EF4-FFF2-40B4-BE49-F238E27FC236}">
                <a16:creationId xmlns:a16="http://schemas.microsoft.com/office/drawing/2014/main" id="{CB5F7715-7052-B331-2A2E-4D9175529C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A9FD7BC-3BDA-42D9-2031-F15A8EA26E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PlantUML diagram">
            <a:extLst>
              <a:ext uri="{FF2B5EF4-FFF2-40B4-BE49-F238E27FC236}">
                <a16:creationId xmlns:a16="http://schemas.microsoft.com/office/drawing/2014/main" id="{3DBD9E49-2A1D-260C-F4D8-47C3892D9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43" y="1410362"/>
            <a:ext cx="8620257" cy="29006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100B28-6BDC-31BE-F6C5-2A14087E465F}"/>
              </a:ext>
            </a:extLst>
          </p:cNvPr>
          <p:cNvSpPr txBox="1"/>
          <p:nvPr/>
        </p:nvSpPr>
        <p:spPr>
          <a:xfrm>
            <a:off x="4909929" y="3485824"/>
            <a:ext cx="36653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прогнозирования объединяет внутри себя все три подхода. Каждому из них даётся одинаковый набор признаков.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Важно отметить, что прогнозы формируются отдельно для входа в позицию и для удержания позиции.</a:t>
            </a:r>
          </a:p>
        </p:txBody>
      </p:sp>
    </p:spTree>
    <p:extLst>
      <p:ext uri="{BB962C8B-B14F-4D97-AF65-F5344CB8AC3E}">
        <p14:creationId xmlns:p14="http://schemas.microsoft.com/office/powerpoint/2010/main" val="3998160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4B1C7F8D-8E3B-9F42-EB01-FBA69729A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>
            <a:extLst>
              <a:ext uri="{FF2B5EF4-FFF2-40B4-BE49-F238E27FC236}">
                <a16:creationId xmlns:a16="http://schemas.microsoft.com/office/drawing/2014/main" id="{1142F66E-DF1C-B25F-F499-B90A587904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принятия решений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p19">
            <a:extLst>
              <a:ext uri="{FF2B5EF4-FFF2-40B4-BE49-F238E27FC236}">
                <a16:creationId xmlns:a16="http://schemas.microsoft.com/office/drawing/2014/main" id="{DF5326CD-CCA3-8126-7891-6CC71F7DC1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PlantUML diagram">
            <a:extLst>
              <a:ext uri="{FF2B5EF4-FFF2-40B4-BE49-F238E27FC236}">
                <a16:creationId xmlns:a16="http://schemas.microsoft.com/office/drawing/2014/main" id="{3B522310-3928-727C-4257-60E979209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214" y="909929"/>
            <a:ext cx="2299969" cy="42335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79B106-7732-C916-0784-07C130ABD5AF}"/>
              </a:ext>
            </a:extLst>
          </p:cNvPr>
          <p:cNvSpPr txBox="1"/>
          <p:nvPr/>
        </p:nvSpPr>
        <p:spPr>
          <a:xfrm>
            <a:off x="368877" y="1017725"/>
            <a:ext cx="47560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Каждую минуту алгоритм принятия решений проверяет уже открытые позиции.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Позиция закрывается, если выполняется одно из следующих правил: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 удержания недостаточен для продолжения позиции;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Достигнут лимит удержания позиции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 минут.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764591-A864-C706-2CBE-5A01B2EFC76F}"/>
              </a:ext>
            </a:extLst>
          </p:cNvPr>
          <p:cNvSpPr txBox="1"/>
          <p:nvPr/>
        </p:nvSpPr>
        <p:spPr>
          <a:xfrm>
            <a:off x="441614" y="2614672"/>
            <a:ext cx="3673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этого проверяется возможность открытия новых позиций.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9CE6BD-DE74-6BE1-D7FE-39DE76E56073}"/>
              </a:ext>
            </a:extLst>
          </p:cNvPr>
          <p:cNvSpPr txBox="1"/>
          <p:nvPr/>
        </p:nvSpPr>
        <p:spPr>
          <a:xfrm>
            <a:off x="368877" y="3187372"/>
            <a:ext cx="37459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Покупка выполняется, если выполнены все следующие условия: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 входа выше экспериментально подобранного порога;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Ожидаемая чистая доходность после издержек положительная;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нарушены ограничения по капиталу и числу позиций.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B31E7D5-67C9-3255-2463-94EBCBAB4C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201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Графики количества сделок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AAC3570-04C9-268F-D629-AF60B902A9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87DC0B-EE6F-A6F5-73FD-910DF912E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77" y="1017725"/>
            <a:ext cx="7369245" cy="4094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97080246-6243-FAA7-F4E7-F5799C5B8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>
            <a:extLst>
              <a:ext uri="{FF2B5EF4-FFF2-40B4-BE49-F238E27FC236}">
                <a16:creationId xmlns:a16="http://schemas.microsoft.com/office/drawing/2014/main" id="{98F9EA79-B61B-DD90-2167-3B904E0AAE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Графики прибыльности моделей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20">
            <a:extLst>
              <a:ext uri="{FF2B5EF4-FFF2-40B4-BE49-F238E27FC236}">
                <a16:creationId xmlns:a16="http://schemas.microsoft.com/office/drawing/2014/main" id="{25620591-936A-8886-5FD1-24E8428599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1DF3C31-67DA-0BA5-A8D5-B0895E8A7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9A0DF0-979D-2C5B-F79F-8DE9B47EF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10" y="1152475"/>
            <a:ext cx="7136780" cy="396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48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работы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Google Shape;104;p21"/>
          <p:cNvSpPr txBox="1">
            <a:spLocks noGrp="1"/>
          </p:cNvSpPr>
          <p:nvPr>
            <p:ph type="body" idx="1"/>
          </p:nvPr>
        </p:nvSpPr>
        <p:spPr>
          <a:xfrm>
            <a:off x="311700" y="1051200"/>
            <a:ext cx="8520600" cy="3915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Проведён анализ предметной области и существующих подходов;</a:t>
            </a:r>
          </a:p>
          <a:p>
            <a:pPr marL="285750" indent="-28575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Подготовлен набор минутных данных Московской биржи;</a:t>
            </a:r>
          </a:p>
          <a:p>
            <a:pPr marL="285750" indent="-28575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конвейер обработки данных и формирования признаков;</a:t>
            </a:r>
          </a:p>
          <a:p>
            <a:pPr marL="285750" indent="-28575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Разработаны модели прогнозирования краткосрочной доходности;</a:t>
            </a:r>
          </a:p>
          <a:p>
            <a:pPr marL="285750" indent="-28575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модуль принятия торговых решений;</a:t>
            </a:r>
          </a:p>
          <a:p>
            <a:pPr marL="285750" indent="-28575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историческое тестирование и оценены результаты по прибыли, просадке, обороту и числу сделок.</a:t>
            </a: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Итог: разработана система алгоритмического онлайн-трейдинга, повышающая его эффективность.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8426328-83D2-0A5E-400A-64C200238F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Google Shape;11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0119EA9-20BB-05BC-28FA-255845194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524</Words>
  <Application>Microsoft Office PowerPoint</Application>
  <PresentationFormat>Экран (16:9)</PresentationFormat>
  <Paragraphs>101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Simple Light</vt:lpstr>
      <vt:lpstr>Тема: Алгоритмический онлайн-трейдинг с использованием технологий искусственного интеллекта</vt:lpstr>
      <vt:lpstr>Актуальность:</vt:lpstr>
      <vt:lpstr>Цель работы: повышение эффективности алгоритмического трейдинга</vt:lpstr>
      <vt:lpstr>Этапы выполнения работы</vt:lpstr>
      <vt:lpstr>Сравнение методов прогнозирования</vt:lpstr>
      <vt:lpstr>Метод подготовки данных</vt:lpstr>
      <vt:lpstr>Модуль прогнозирования</vt:lpstr>
      <vt:lpstr>Модуль прогнозирования торговой системы</vt:lpstr>
      <vt:lpstr>Модуль принятия решений</vt:lpstr>
      <vt:lpstr>Графики количества сделок</vt:lpstr>
      <vt:lpstr>Графики прибыльности моделей</vt:lpstr>
      <vt:lpstr>Результаты работы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Кирилл Петров</cp:lastModifiedBy>
  <cp:revision>76</cp:revision>
  <dcterms:modified xsi:type="dcterms:W3CDTF">2026-05-26T14:13:38Z</dcterms:modified>
</cp:coreProperties>
</file>