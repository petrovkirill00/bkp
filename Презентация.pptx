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7" d="100"/>
          <a:sy n="197" d="100"/>
        </p:scale>
        <p:origin x="666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ru-RU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dabd55fb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59" name="Google Shape;59;gdabd55fb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dabd55fb2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65" name="Google Shape;65;gdabd55fb2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dabd55fb20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1" name="Google Shape;71;gdabd55fb20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dabd55fb20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77" name="Google Shape;77;gdabd55fb20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552527e0a1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3" name="Google Shape;83;g3552527e0a1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52527e0a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89" name="Google Shape;89;g3552527e0a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dabd55fb20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95" name="Google Shape;95;gdabd55fb20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abd55fb2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1" name="Google Shape;101;gdabd55fb20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552527e0a1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  <p:sp>
        <p:nvSpPr>
          <p:cNvPr id="107" name="Google Shape;107;g3552527e0a1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692" y="143545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/>
              <a:t>Тема: Алгоритмический онлайн-трейдинг с использованием технологий искусственного интеллекта</a:t>
            </a:r>
            <a:endParaRPr sz="32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692" y="431682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Студент: Петров К.Ю.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Группа: БСБО-06-22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Руководитель: Романец А.В. 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311692" y="1272235"/>
            <a:ext cx="8520600" cy="59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SzPts val="990"/>
            </a:pPr>
            <a:r>
              <a:rPr lang="ru-RU" sz="2000" dirty="0"/>
              <a:t>Институт кибербезопасности и цифровых технологий</a:t>
            </a:r>
            <a:br>
              <a:rPr lang="ru-RU" sz="2000" dirty="0"/>
            </a:br>
            <a:r>
              <a:rPr lang="ru-RU" sz="2000" dirty="0"/>
              <a:t>Кафедра КБ-14 «Цифровые технологии обработки данных»</a:t>
            </a:r>
            <a:endParaRPr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EB7EFB6-EFCE-A153-2421-2298C2716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897" y="0"/>
            <a:ext cx="1024190" cy="11246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Актуальность:</a:t>
            </a:r>
            <a:endParaRPr dirty="0"/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311700" y="941494"/>
            <a:ext cx="8520600" cy="7789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Краткосрочная торговля на финансовом рынке требует быстрой обработки рыночных данных и принятия решений с учётом комиссий, спреда и риска.</a:t>
            </a:r>
          </a:p>
        </p:txBody>
      </p:sp>
      <p:sp>
        <p:nvSpPr>
          <p:cNvPr id="2" name="Google Shape;61;p14">
            <a:extLst>
              <a:ext uri="{FF2B5EF4-FFF2-40B4-BE49-F238E27FC236}">
                <a16:creationId xmlns:a16="http://schemas.microsoft.com/office/drawing/2014/main" id="{607B879A-9393-449F-05FD-D0BF85AAD57E}"/>
              </a:ext>
            </a:extLst>
          </p:cNvPr>
          <p:cNvSpPr txBox="1">
            <a:spLocks/>
          </p:cNvSpPr>
          <p:nvPr/>
        </p:nvSpPr>
        <p:spPr>
          <a:xfrm>
            <a:off x="450554" y="1017724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007F968C-CC83-8DAF-D6F1-57DFAC497B6B}"/>
              </a:ext>
            </a:extLst>
          </p:cNvPr>
          <p:cNvSpPr txBox="1">
            <a:spLocks/>
          </p:cNvSpPr>
          <p:nvPr/>
        </p:nvSpPr>
        <p:spPr>
          <a:xfrm>
            <a:off x="311700" y="1666657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500" dirty="0"/>
              <a:t>Предметная область:</a:t>
            </a:r>
          </a:p>
        </p:txBody>
      </p:sp>
      <p:sp>
        <p:nvSpPr>
          <p:cNvPr id="10" name="Google Shape;61;p14">
            <a:extLst>
              <a:ext uri="{FF2B5EF4-FFF2-40B4-BE49-F238E27FC236}">
                <a16:creationId xmlns:a16="http://schemas.microsoft.com/office/drawing/2014/main" id="{218A508E-1C55-91DD-04B6-EA81F8FE08DD}"/>
              </a:ext>
            </a:extLst>
          </p:cNvPr>
          <p:cNvSpPr txBox="1">
            <a:spLocks/>
          </p:cNvSpPr>
          <p:nvPr/>
        </p:nvSpPr>
        <p:spPr>
          <a:xfrm>
            <a:off x="450554" y="2216897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6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Алгоритмический онлайн-трейдинг ликвидных акций Московской биржи на основе минутных данных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OHLCV</a:t>
            </a:r>
            <a:endParaRPr lang="ru-RU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" name="Google Shape;61;p14">
            <a:extLst>
              <a:ext uri="{FF2B5EF4-FFF2-40B4-BE49-F238E27FC236}">
                <a16:creationId xmlns:a16="http://schemas.microsoft.com/office/drawing/2014/main" id="{933E4961-A895-3FB3-54CF-213D9304593B}"/>
              </a:ext>
            </a:extLst>
          </p:cNvPr>
          <p:cNvSpPr txBox="1">
            <a:spLocks/>
          </p:cNvSpPr>
          <p:nvPr/>
        </p:nvSpPr>
        <p:spPr>
          <a:xfrm>
            <a:off x="311700" y="2826443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Мотивация:</a:t>
            </a:r>
          </a:p>
        </p:txBody>
      </p:sp>
      <p:sp>
        <p:nvSpPr>
          <p:cNvPr id="12" name="Google Shape;61;p14">
            <a:extLst>
              <a:ext uri="{FF2B5EF4-FFF2-40B4-BE49-F238E27FC236}">
                <a16:creationId xmlns:a16="http://schemas.microsoft.com/office/drawing/2014/main" id="{EACC9673-60B5-E1E7-50FC-2DC6ED3C5CC6}"/>
              </a:ext>
            </a:extLst>
          </p:cNvPr>
          <p:cNvSpPr txBox="1">
            <a:spLocks/>
          </p:cNvSpPr>
          <p:nvPr/>
        </p:nvSpPr>
        <p:spPr>
          <a:xfrm>
            <a:off x="450554" y="3472706"/>
            <a:ext cx="8520600" cy="61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6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Прогноз цены сам по себе недостаточен: необходимо преобразовать прогноз в торговое действие с учётом реальных ограничений рынка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4"/>
            <a:ext cx="8520600" cy="947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Цель работы: повышение эффективности алгоритмического трейдинга</a:t>
            </a:r>
            <a:endParaRPr dirty="0"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392919"/>
            <a:ext cx="8520600" cy="3175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Задачи:</a:t>
            </a:r>
          </a:p>
          <a:p>
            <a:pPr marL="342900" lvl="0">
              <a:buFont typeface="+mj-lt"/>
              <a:buAutoNum type="arabicPeriod"/>
            </a:pPr>
            <a:r>
              <a:rPr lang="ru-RU" dirty="0"/>
              <a:t>Анализ предметной области онлайн-трейдинга, методов прогнозирования и средств исторического тестирования</a:t>
            </a:r>
            <a:r>
              <a:rPr lang="en-US" dirty="0"/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/>
              <a:t>Подготовка минутных данных по ликвидным акциям MOEX</a:t>
            </a:r>
            <a:r>
              <a:rPr lang="en-US" dirty="0"/>
              <a:t>;</a:t>
            </a:r>
            <a:endParaRPr lang="ru-RU" dirty="0"/>
          </a:p>
          <a:p>
            <a:pPr marL="342900" lvl="0">
              <a:buFont typeface="+mj-lt"/>
              <a:buAutoNum type="arabicPeriod"/>
            </a:pPr>
            <a:r>
              <a:rPr lang="ru-RU" dirty="0"/>
              <a:t>Разработка и сравнение моделей прогноза доходности</a:t>
            </a:r>
            <a:r>
              <a:rPr lang="en-US" dirty="0"/>
              <a:t>;</a:t>
            </a:r>
          </a:p>
          <a:p>
            <a:pPr marL="342900" lvl="0">
              <a:buFont typeface="+mj-lt"/>
              <a:buAutoNum type="arabicPeriod"/>
            </a:pPr>
            <a:r>
              <a:rPr lang="ru-RU" dirty="0"/>
              <a:t>Проектирование модуля торговых решений стратегии</a:t>
            </a:r>
            <a:r>
              <a:rPr lang="en-US" dirty="0"/>
              <a:t> </a:t>
            </a:r>
            <a:r>
              <a:rPr lang="ru-RU" dirty="0"/>
              <a:t>торговли длинными позициями</a:t>
            </a:r>
            <a:r>
              <a:rPr lang="en-US" dirty="0"/>
              <a:t>;</a:t>
            </a:r>
            <a:endParaRPr lang="ru-RU" dirty="0"/>
          </a:p>
          <a:p>
            <a:pPr marL="342900" lvl="0">
              <a:buFont typeface="+mj-lt"/>
              <a:buAutoNum type="arabicPeriod"/>
            </a:pPr>
            <a:r>
              <a:rPr lang="ru-RU" dirty="0"/>
              <a:t>Историческое тестирование и экспериментальная проверка полного контура системы.</a:t>
            </a:r>
          </a:p>
          <a:p>
            <a:pPr marL="342900" lvl="0">
              <a:buFont typeface="+mj-lt"/>
              <a:buAutoNum type="arabicPeriod"/>
            </a:pP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Сравнение средств исторического тестирования</a:t>
            </a:r>
            <a:endParaRPr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4DDF881-92D4-FC75-1DCF-BC41D3450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714711"/>
              </p:ext>
            </p:extLst>
          </p:nvPr>
        </p:nvGraphicFramePr>
        <p:xfrm>
          <a:off x="424720" y="1348155"/>
          <a:ext cx="8294559" cy="251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508">
                  <a:extLst>
                    <a:ext uri="{9D8B030D-6E8A-4147-A177-3AD203B41FA5}">
                      <a16:colId xmlns:a16="http://schemas.microsoft.com/office/drawing/2014/main" val="2557347617"/>
                    </a:ext>
                  </a:extLst>
                </a:gridCol>
                <a:gridCol w="1047059">
                  <a:extLst>
                    <a:ext uri="{9D8B030D-6E8A-4147-A177-3AD203B41FA5}">
                      <a16:colId xmlns:a16="http://schemas.microsoft.com/office/drawing/2014/main" val="2319195195"/>
                    </a:ext>
                  </a:extLst>
                </a:gridCol>
                <a:gridCol w="1122865">
                  <a:extLst>
                    <a:ext uri="{9D8B030D-6E8A-4147-A177-3AD203B41FA5}">
                      <a16:colId xmlns:a16="http://schemas.microsoft.com/office/drawing/2014/main" val="100269759"/>
                    </a:ext>
                  </a:extLst>
                </a:gridCol>
                <a:gridCol w="1710264">
                  <a:extLst>
                    <a:ext uri="{9D8B030D-6E8A-4147-A177-3AD203B41FA5}">
                      <a16:colId xmlns:a16="http://schemas.microsoft.com/office/drawing/2014/main" val="1914388555"/>
                    </a:ext>
                  </a:extLst>
                </a:gridCol>
                <a:gridCol w="1514742">
                  <a:extLst>
                    <a:ext uri="{9D8B030D-6E8A-4147-A177-3AD203B41FA5}">
                      <a16:colId xmlns:a16="http://schemas.microsoft.com/office/drawing/2014/main" val="1650913469"/>
                    </a:ext>
                  </a:extLst>
                </a:gridCol>
                <a:gridCol w="1444121">
                  <a:extLst>
                    <a:ext uri="{9D8B030D-6E8A-4147-A177-3AD203B41FA5}">
                      <a16:colId xmlns:a16="http://schemas.microsoft.com/office/drawing/2014/main" val="824048194"/>
                    </a:ext>
                  </a:extLst>
                </a:gridCol>
              </a:tblGrid>
              <a:tr h="632256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Простота освоения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Гибкость настройки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Интеграция с моделями 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Пригодность для данных </a:t>
                      </a:r>
                      <a:r>
                        <a:rPr lang="en-US" dirty="0"/>
                        <a:t>MOEX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Временная валидация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82096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Backtrader</a:t>
                      </a:r>
                      <a:endParaRPr lang="ru-RU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89619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Zipline</a:t>
                      </a:r>
                      <a:endParaRPr lang="ru-RU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1483280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LEAN / QuantConnect</a:t>
                      </a:r>
                      <a:endParaRPr lang="ru-RU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Низкая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561469"/>
                  </a:ext>
                </a:extLst>
              </a:tr>
              <a:tr h="375128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Предлагаемое решение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7969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Материалы и методы</a:t>
            </a:r>
            <a:r>
              <a:rPr lang="ru-RU" dirty="0"/>
              <a:t> подготовки данных</a:t>
            </a:r>
            <a:endParaRPr dirty="0"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657224" y="2162126"/>
            <a:ext cx="1548247" cy="4061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MOEX ISS API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Google Shape;80;p17">
            <a:extLst>
              <a:ext uri="{FF2B5EF4-FFF2-40B4-BE49-F238E27FC236}">
                <a16:creationId xmlns:a16="http://schemas.microsoft.com/office/drawing/2014/main" id="{AC0D3561-9207-39A5-B374-3265DBEC99BD}"/>
              </a:ext>
            </a:extLst>
          </p:cNvPr>
          <p:cNvSpPr txBox="1">
            <a:spLocks/>
          </p:cNvSpPr>
          <p:nvPr/>
        </p:nvSpPr>
        <p:spPr>
          <a:xfrm>
            <a:off x="2483426" y="2049097"/>
            <a:ext cx="1548247" cy="624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ru-RU" dirty="0">
                <a:solidFill>
                  <a:schemeClr val="tx1"/>
                </a:solidFill>
              </a:rPr>
              <a:t>Очистка и</a:t>
            </a:r>
          </a:p>
          <a:p>
            <a:pPr marL="0" indent="0" algn="ctr">
              <a:buFont typeface="Arial"/>
              <a:buNone/>
            </a:pPr>
            <a:r>
              <a:rPr lang="ru-RU" dirty="0">
                <a:solidFill>
                  <a:schemeClr val="tx1"/>
                </a:solidFill>
              </a:rPr>
              <a:t>синхронизация</a:t>
            </a:r>
          </a:p>
        </p:txBody>
      </p:sp>
      <p:sp>
        <p:nvSpPr>
          <p:cNvPr id="7" name="Google Shape;80;p17">
            <a:extLst>
              <a:ext uri="{FF2B5EF4-FFF2-40B4-BE49-F238E27FC236}">
                <a16:creationId xmlns:a16="http://schemas.microsoft.com/office/drawing/2014/main" id="{2F482305-E4B7-A89E-91C9-E2392F386348}"/>
              </a:ext>
            </a:extLst>
          </p:cNvPr>
          <p:cNvSpPr txBox="1">
            <a:spLocks/>
          </p:cNvSpPr>
          <p:nvPr/>
        </p:nvSpPr>
        <p:spPr>
          <a:xfrm>
            <a:off x="4436925" y="2049096"/>
            <a:ext cx="1548247" cy="624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ru-RU" dirty="0">
                <a:solidFill>
                  <a:schemeClr val="tx1"/>
                </a:solidFill>
              </a:rPr>
              <a:t>Формирование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признаков</a:t>
            </a:r>
          </a:p>
        </p:txBody>
      </p:sp>
      <p:sp>
        <p:nvSpPr>
          <p:cNvPr id="8" name="Google Shape;80;p17">
            <a:extLst>
              <a:ext uri="{FF2B5EF4-FFF2-40B4-BE49-F238E27FC236}">
                <a16:creationId xmlns:a16="http://schemas.microsoft.com/office/drawing/2014/main" id="{767695A8-47C2-2C8C-3073-41ED342BC5A4}"/>
              </a:ext>
            </a:extLst>
          </p:cNvPr>
          <p:cNvSpPr txBox="1">
            <a:spLocks/>
          </p:cNvSpPr>
          <p:nvPr/>
        </p:nvSpPr>
        <p:spPr>
          <a:xfrm>
            <a:off x="6457949" y="2049096"/>
            <a:ext cx="1290204" cy="624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ru-RU" dirty="0">
                <a:solidFill>
                  <a:schemeClr val="tx1"/>
                </a:solidFill>
              </a:rPr>
              <a:t>Разметка датасета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E9C1F11-63D1-8DA9-3025-C2FD8EA7AC48}"/>
              </a:ext>
            </a:extLst>
          </p:cNvPr>
          <p:cNvCxnSpPr>
            <a:cxnSpLocks/>
          </p:cNvCxnSpPr>
          <p:nvPr/>
        </p:nvCxnSpPr>
        <p:spPr>
          <a:xfrm>
            <a:off x="713509" y="1685060"/>
            <a:ext cx="7716982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Google Shape;80;p17">
            <a:extLst>
              <a:ext uri="{FF2B5EF4-FFF2-40B4-BE49-F238E27FC236}">
                <a16:creationId xmlns:a16="http://schemas.microsoft.com/office/drawing/2014/main" id="{40D90262-F775-D54F-8EA5-AEBD29D472E8}"/>
              </a:ext>
            </a:extLst>
          </p:cNvPr>
          <p:cNvSpPr txBox="1">
            <a:spLocks/>
          </p:cNvSpPr>
          <p:nvPr/>
        </p:nvSpPr>
        <p:spPr>
          <a:xfrm>
            <a:off x="742947" y="2568287"/>
            <a:ext cx="1548247" cy="69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Минутные</a:t>
            </a:r>
            <a:br>
              <a:rPr lang="ru-RU" sz="1400" dirty="0">
                <a:solidFill>
                  <a:schemeClr val="bg2"/>
                </a:solidFill>
              </a:rPr>
            </a:br>
            <a:r>
              <a:rPr lang="ru-RU" sz="1400" dirty="0">
                <a:solidFill>
                  <a:schemeClr val="bg2"/>
                </a:solidFill>
              </a:rPr>
              <a:t>данные акций</a:t>
            </a:r>
          </a:p>
        </p:txBody>
      </p:sp>
      <p:sp>
        <p:nvSpPr>
          <p:cNvPr id="14" name="Google Shape;80;p17">
            <a:extLst>
              <a:ext uri="{FF2B5EF4-FFF2-40B4-BE49-F238E27FC236}">
                <a16:creationId xmlns:a16="http://schemas.microsoft.com/office/drawing/2014/main" id="{255C3F48-6CC7-40F3-E5FB-EA40ADCB9EFC}"/>
              </a:ext>
            </a:extLst>
          </p:cNvPr>
          <p:cNvSpPr txBox="1">
            <a:spLocks/>
          </p:cNvSpPr>
          <p:nvPr/>
        </p:nvSpPr>
        <p:spPr>
          <a:xfrm>
            <a:off x="1314447" y="2890405"/>
            <a:ext cx="1548247" cy="69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 typeface="Arial"/>
              <a:buNone/>
            </a:pPr>
            <a:endParaRPr lang="ru-RU" sz="1400" dirty="0">
              <a:solidFill>
                <a:schemeClr val="bg2"/>
              </a:solidFill>
            </a:endParaRPr>
          </a:p>
        </p:txBody>
      </p:sp>
      <p:sp>
        <p:nvSpPr>
          <p:cNvPr id="15" name="Google Shape;80;p17">
            <a:extLst>
              <a:ext uri="{FF2B5EF4-FFF2-40B4-BE49-F238E27FC236}">
                <a16:creationId xmlns:a16="http://schemas.microsoft.com/office/drawing/2014/main" id="{52EAAA17-3D9C-A975-8FAD-8EA58E068A82}"/>
              </a:ext>
            </a:extLst>
          </p:cNvPr>
          <p:cNvSpPr txBox="1">
            <a:spLocks/>
          </p:cNvSpPr>
          <p:nvPr/>
        </p:nvSpPr>
        <p:spPr>
          <a:xfrm>
            <a:off x="2311980" y="2476961"/>
            <a:ext cx="2104159" cy="1007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Сортировка по времени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Удаление дубликатов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Обработка пропусков</a:t>
            </a:r>
          </a:p>
        </p:txBody>
      </p:sp>
      <p:sp>
        <p:nvSpPr>
          <p:cNvPr id="17" name="Google Shape;80;p17">
            <a:extLst>
              <a:ext uri="{FF2B5EF4-FFF2-40B4-BE49-F238E27FC236}">
                <a16:creationId xmlns:a16="http://schemas.microsoft.com/office/drawing/2014/main" id="{E542635D-4750-DA5F-C072-F6FD2D44A99F}"/>
              </a:ext>
            </a:extLst>
          </p:cNvPr>
          <p:cNvSpPr txBox="1">
            <a:spLocks/>
          </p:cNvSpPr>
          <p:nvPr/>
        </p:nvSpPr>
        <p:spPr>
          <a:xfrm>
            <a:off x="4416140" y="2573483"/>
            <a:ext cx="1827066" cy="1007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Доходности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Объём и оборот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Волатильность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Временные признаки</a:t>
            </a:r>
          </a:p>
        </p:txBody>
      </p:sp>
      <p:sp>
        <p:nvSpPr>
          <p:cNvPr id="19" name="Google Shape;80;p17">
            <a:extLst>
              <a:ext uri="{FF2B5EF4-FFF2-40B4-BE49-F238E27FC236}">
                <a16:creationId xmlns:a16="http://schemas.microsoft.com/office/drawing/2014/main" id="{9D7CD218-D82F-7595-B047-8E33C2969C0F}"/>
              </a:ext>
            </a:extLst>
          </p:cNvPr>
          <p:cNvSpPr txBox="1">
            <a:spLocks/>
          </p:cNvSpPr>
          <p:nvPr/>
        </p:nvSpPr>
        <p:spPr>
          <a:xfrm>
            <a:off x="6263990" y="2568287"/>
            <a:ext cx="2568310" cy="1007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Будущая доходность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Метка удержания позиции</a:t>
            </a:r>
          </a:p>
          <a:p>
            <a:pPr marL="0" indent="0">
              <a:buFont typeface="Arial"/>
              <a:buNone/>
            </a:pPr>
            <a:r>
              <a:rPr lang="ru-RU" sz="1400" dirty="0">
                <a:solidFill>
                  <a:schemeClr val="bg2"/>
                </a:solidFill>
              </a:rPr>
              <a:t>Окна прошлых наблюдений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1619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Архитектурные решения</a:t>
            </a:r>
            <a:endParaRPr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A780F20-9E79-C391-A165-9502E33FB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ru-RU" dirty="0"/>
              <a:t> </a:t>
            </a:r>
          </a:p>
        </p:txBody>
      </p:sp>
      <p:pic>
        <p:nvPicPr>
          <p:cNvPr id="8" name="Рисунок 7" descr="PlantUML diagram">
            <a:extLst>
              <a:ext uri="{FF2B5EF4-FFF2-40B4-BE49-F238E27FC236}">
                <a16:creationId xmlns:a16="http://schemas.microsoft.com/office/drawing/2014/main" id="{DFF5848B-FB87-057A-D89F-CBA79A35FB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9867" y="631825"/>
            <a:ext cx="6120130" cy="45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Разработанные методы и алгоритмы</a:t>
            </a:r>
            <a:endParaRPr dirty="0"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 </a:t>
            </a:r>
            <a:endParaRPr dirty="0"/>
          </a:p>
        </p:txBody>
      </p:sp>
      <p:pic>
        <p:nvPicPr>
          <p:cNvPr id="2" name="Рисунок 1" descr="PlantUML diagram">
            <a:extLst>
              <a:ext uri="{FF2B5EF4-FFF2-40B4-BE49-F238E27FC236}">
                <a16:creationId xmlns:a16="http://schemas.microsoft.com/office/drawing/2014/main" id="{911F78CB-0166-CB2D-6ADA-C345FF6E6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8258" y="1152475"/>
            <a:ext cx="3307484" cy="37185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Результаты тестирования программной системы</a:t>
            </a:r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Графики и результаты экспериментов (скриншоты, изображения)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Результаты работы</a:t>
            </a:r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-предложена методика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-разработана программная система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Этот список должен быть в согласии со списком задач.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Резюмируем устно, что задачи работы выполнены и цель работы достигнута. Содержимое слайда не зачитывается.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Обычно благодарят за внимание.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Постарайтесь уложиться в 15 слайдов и 7 минут.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Заготовьте речь и впишите в примечания к слайдам.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Отрепетируйте с секундомером.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324</Words>
  <Application>Microsoft Office PowerPoint</Application>
  <PresentationFormat>Экран (16:9)</PresentationFormat>
  <Paragraphs>83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2" baseType="lpstr">
      <vt:lpstr>Arial</vt:lpstr>
      <vt:lpstr>Simple Light</vt:lpstr>
      <vt:lpstr>Тема: Алгоритмический онлайн-трейдинг с использованием технологий искусственного интеллекта</vt:lpstr>
      <vt:lpstr>Актуальность:</vt:lpstr>
      <vt:lpstr>Цель работы: повышение эффективности алгоритмического трейдинга</vt:lpstr>
      <vt:lpstr>Сравнение средств исторического тестирования</vt:lpstr>
      <vt:lpstr>Материалы и методы подготовки данных</vt:lpstr>
      <vt:lpstr>Архитектурные решения</vt:lpstr>
      <vt:lpstr>Разработанные методы и алгоритмы</vt:lpstr>
      <vt:lpstr>Результаты тестирования программной системы</vt:lpstr>
      <vt:lpstr>Результаты работы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Кирилл Петров</cp:lastModifiedBy>
  <cp:revision>10</cp:revision>
  <dcterms:modified xsi:type="dcterms:W3CDTF">2026-05-14T08:15:20Z</dcterms:modified>
</cp:coreProperties>
</file>