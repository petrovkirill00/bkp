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6" r:id="rId9"/>
    <p:sldId id="263" r:id="rId10"/>
    <p:sldId id="268" r:id="rId11"/>
    <p:sldId id="264" r:id="rId12"/>
    <p:sldId id="265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49" autoAdjust="0"/>
  </p:normalViewPr>
  <p:slideViewPr>
    <p:cSldViewPr snapToGrid="0">
      <p:cViewPr varScale="1">
        <p:scale>
          <a:sx n="192" d="100"/>
          <a:sy n="192" d="100"/>
        </p:scale>
        <p:origin x="816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Здравствуйте, уважаемые члены комиссии.</a:t>
            </a:r>
            <a:br>
              <a:rPr lang="ru-RU" dirty="0"/>
            </a:br>
            <a:r>
              <a:rPr lang="ru-RU" dirty="0"/>
              <a:t>Тема моей выпускной квалификационной работы — «Алгоритмический онлайн-трейдинг с использованием технологий искусственного интеллекта».</a:t>
            </a:r>
          </a:p>
          <a:p>
            <a:r>
              <a:rPr lang="ru-RU" dirty="0"/>
              <a:t>В работе рассматривается программный прототип системы, которая обрабатывает минутные данные акций Московской биржи, строит краткосрочные прогнозы доходности и на их основе формирует торговые решения.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dabd55fb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59" name="Google Shape;59;gdabd55fb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Актуальность работы связана с тем, что краткосрочная торговля требует быстрой обработки рыночных данных и принятия решений с учётом реальных ограничений рынка.</a:t>
            </a:r>
          </a:p>
          <a:p>
            <a:r>
              <a:rPr lang="ru-RU" dirty="0"/>
              <a:t>На минутных горизонтах одного прогноза цены недостаточно. Даже если модель ожидает рост, сделка может оказаться невыгодной из-за комиссии, биржевого спреда или слишком малого ожидаемого движения цены.</a:t>
            </a:r>
          </a:p>
          <a:p>
            <a:r>
              <a:rPr lang="ru-RU" dirty="0"/>
              <a:t>Поэтому в работе рассматривается не только прогнозирующая модель, но и полный контур: подготовка данных, прогнозирование, принятие торгового решения и историческое тестирование стратегии.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dabd55fb2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65" name="Google Shape;65;gdabd55fb2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Цель работы — повышение эффективности алгоритмического трейдинга.</a:t>
            </a:r>
          </a:p>
          <a:p>
            <a:r>
              <a:rPr lang="ru-RU" dirty="0"/>
              <a:t>Для достижения этой цели были поставлены несколько задач: проанализировать предметную область и существующие подходы, подготовить минутные данные по ликвидным акциям Московской биржи, разработать модели прогнозирования доходности, спроектировать модуль принятия торговых решений и реализовать историческое тестирование стратегии.</a:t>
            </a:r>
          </a:p>
          <a:p>
            <a:r>
              <a:rPr lang="ru-RU" dirty="0"/>
              <a:t>Таким образом, работа охватывает не только обучение моделей, но и проверку того, как их прогнозы могут использоваться в торговой системе.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dabd55fb2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71" name="Google Shape;71;gdabd55fb2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На этом слайде приведено сравнение средств исторического тестирования торговых алгоритмов.</a:t>
            </a:r>
          </a:p>
          <a:p>
            <a:r>
              <a:rPr lang="ru-RU" dirty="0"/>
              <a:t>Рассматривались Backtrader, </a:t>
            </a:r>
            <a:r>
              <a:rPr lang="ru-RU" dirty="0" err="1"/>
              <a:t>Zipline</a:t>
            </a:r>
            <a:r>
              <a:rPr lang="ru-RU" dirty="0"/>
              <a:t> и LEAN / QuantConnect. Эти инструменты позволяют проводить </a:t>
            </a:r>
            <a:r>
              <a:rPr lang="ru-RU" dirty="0" err="1"/>
              <a:t>backtesting</a:t>
            </a:r>
            <a:r>
              <a:rPr lang="ru-RU" dirty="0"/>
              <a:t>, но для данной работы было важно гибко работать с минутными данными Московской биржи, сравнивать разные модели искусственного интеллекта и контролировать временную валидацию.</a:t>
            </a:r>
          </a:p>
          <a:p>
            <a:r>
              <a:rPr lang="ru-RU" dirty="0"/>
              <a:t>Поэтому было принято решение реализовать собственный контур исторического тестирования. Это позволило явно учитывать комиссии, ограничения по позициям, число сделок и другие метрики.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abd55fb2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77" name="Google Shape;77;gdabd55fb2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Исходные данные получались через MOEX ISS API. Использовались минутные данные по акциям: цена открытия, максимум, минимум, цена закрытия, объём и денежный оборот.</a:t>
            </a:r>
          </a:p>
          <a:p>
            <a:r>
              <a:rPr lang="ru-RU" dirty="0"/>
              <a:t>Далее данные проходили очистку и синхронизацию: выполнялась сортировка по времени, удаление дубликатов и обработка пропусков.</a:t>
            </a:r>
          </a:p>
          <a:p>
            <a:r>
              <a:rPr lang="ru-RU" dirty="0"/>
              <a:t>После этого формировались признаки: доходности за предыдущие минуты, признаки объёма и оборота, волатильность, временные признаки и окна прошлых наблюдений. На основе этих данных формировались целевые переменные для обучения моделей.</a:t>
            </a:r>
          </a:p>
          <a:p>
            <a:r>
              <a:rPr lang="ru-RU" dirty="0"/>
              <a:t>После подготовки данных эти признаки использовались для обучения моделей и дальнейшего исторического тестирования стратегии.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52527e0a1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83" name="Google Shape;83;g3552527e0a1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Основное архитектурное решение работы — разделить прогнозирование и принятие торговых решений.</a:t>
            </a:r>
          </a:p>
          <a:p>
            <a:r>
              <a:rPr lang="ru-RU" dirty="0"/>
              <a:t>Модель не выдаёт напрямую команду «купить» или «продать». Она только предсказывает ожидаемую доходность. Затем отдельный модуль решает, можно ли использовать этот прогноз для открытия, удержания или закрытия позиции.</a:t>
            </a:r>
          </a:p>
          <a:p>
            <a:r>
              <a:rPr lang="ru-RU" dirty="0"/>
              <a:t>Такое разделение позволяет отдельно сравнивать качество моделей и отдельно задавать торговые ограничения: комиссии, лимиты по капиталу, максимальное число позиций и время удержания.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1BD3947-C1E8-DC48-8F67-C6EA98F8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52527e0a1_1_0:notes">
            <a:extLst>
              <a:ext uri="{FF2B5EF4-FFF2-40B4-BE49-F238E27FC236}">
                <a16:creationId xmlns:a16="http://schemas.microsoft.com/office/drawing/2014/main" id="{B5AEF8AC-09B0-0057-12A9-F9FC8E8B4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89" name="Google Shape;89;g3552527e0a1_1_0:notes">
            <a:extLst>
              <a:ext uri="{FF2B5EF4-FFF2-40B4-BE49-F238E27FC236}">
                <a16:creationId xmlns:a16="http://schemas.microsoft.com/office/drawing/2014/main" id="{5682DA1C-92D4-F969-3AC6-CC70A57A42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Алгоритм работает на каждой торговой минуте.</a:t>
            </a:r>
          </a:p>
          <a:p>
            <a:r>
              <a:rPr lang="ru-RU" dirty="0"/>
              <a:t>Сначала проверяются уже открытые позиции. Позиция закрывается, если она удерживается дольше заданного лимита или если прогноз удержания становится недостаточным. В противном случае позиция продолжает удерживаться.</a:t>
            </a:r>
          </a:p>
          <a:p>
            <a:r>
              <a:rPr lang="ru-RU" dirty="0"/>
              <a:t>После этого проверяется возможность покупки новых бумаг. Для открытия позиции прогноз входа должен быть выше порога, а ожидаемая чистая доходность после учёта издержек должна оставаться положительной.</a:t>
            </a:r>
          </a:p>
          <a:p>
            <a:r>
              <a:rPr lang="ru-RU" dirty="0"/>
              <a:t>Если кандидатов несколько, выбираются лучшие бумаги, а капитал распределяется с учётом ограничений стратегии.</a:t>
            </a:r>
          </a:p>
        </p:txBody>
      </p:sp>
    </p:spTree>
    <p:extLst>
      <p:ext uri="{BB962C8B-B14F-4D97-AF65-F5344CB8AC3E}">
        <p14:creationId xmlns:p14="http://schemas.microsoft.com/office/powerpoint/2010/main" val="1704705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24D11D5-909D-B567-263B-CD2E591E3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52527e0a1_1_0:notes">
            <a:extLst>
              <a:ext uri="{FF2B5EF4-FFF2-40B4-BE49-F238E27FC236}">
                <a16:creationId xmlns:a16="http://schemas.microsoft.com/office/drawing/2014/main" id="{AFB76F5B-A748-39B3-4316-DE2A7F2C61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89" name="Google Shape;89;g3552527e0a1_1_0:notes">
            <a:extLst>
              <a:ext uri="{FF2B5EF4-FFF2-40B4-BE49-F238E27FC236}">
                <a16:creationId xmlns:a16="http://schemas.microsoft.com/office/drawing/2014/main" id="{CF982FC0-9EF7-485D-C1F7-9E2FED0C6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Модели получают на вход окно последних минутных наблюдений и предсказывают ожидаемую доходность на нескольких горизонтах: от 1 до 15 минут.</a:t>
            </a:r>
          </a:p>
          <a:p>
            <a:r>
              <a:rPr lang="ru-RU" dirty="0"/>
              <a:t>Отдельно используются прогнозы для входа в позицию и для удержания уже открытой позиции. Это важно, потому что покупка новой бумаги и продолжение удержания текущей позиции — это разные торговые ситуации.</a:t>
            </a:r>
          </a:p>
          <a:p>
            <a:r>
              <a:rPr lang="ru-RU" dirty="0"/>
              <a:t>Далее прогнозы передаются в модуль принятия решений, где дополнительно учитываются порог входа, максимальное количество позиций, издержки покупки и продажи, а также лимит удержания.</a:t>
            </a:r>
          </a:p>
          <a:p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5272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dabd55fb2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95" name="Google Shape;95;gdabd55fb2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На этом слайде показаны результаты тестирования стратегии на горизонте 15 минут при издержках 0,01%, 0,03% и 0,05%.</a:t>
            </a:r>
          </a:p>
          <a:p>
            <a:r>
              <a:rPr lang="ru-RU" dirty="0"/>
              <a:t>При минимальных издержках почти все модели дают положительную доходность. Лучший результат показывает гребневая регрессия, далее идут </a:t>
            </a:r>
            <a:r>
              <a:rPr lang="ru-RU" dirty="0" err="1"/>
              <a:t>Transformer</a:t>
            </a:r>
            <a:r>
              <a:rPr lang="ru-RU" dirty="0"/>
              <a:t>, LSTM и GRU. ARIMA почти не даёт прибыли и выступает как простое сравнение.</a:t>
            </a:r>
          </a:p>
          <a:p>
            <a:r>
              <a:rPr lang="ru-RU" dirty="0"/>
              <a:t>При росте издержек доходность резко падает, а фактор прибыльности часто становится ниже 1.</a:t>
            </a:r>
          </a:p>
          <a:p>
            <a:r>
              <a:rPr lang="ru-RU"/>
              <a:t>Главный вывод: модели находят торговый сигнал, но результат стратегии сильно зависит от комиссий и биржевого спреда.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242D896F-8F5A-6E6B-9193-2507ABC2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dabd55fb20_0_25:notes">
            <a:extLst>
              <a:ext uri="{FF2B5EF4-FFF2-40B4-BE49-F238E27FC236}">
                <a16:creationId xmlns:a16="http://schemas.microsoft.com/office/drawing/2014/main" id="{77A05370-6C6D-BCAC-C83C-3C05465336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95" name="Google Shape;95;gdabd55fb20_0_25:notes">
            <a:extLst>
              <a:ext uri="{FF2B5EF4-FFF2-40B4-BE49-F238E27FC236}">
                <a16:creationId xmlns:a16="http://schemas.microsoft.com/office/drawing/2014/main" id="{E155E6AB-440C-6B77-3ED8-CE126B273B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Этот слайд объясняет, почему стратегия чувствительна к издержкам.</a:t>
            </a:r>
          </a:p>
          <a:p>
            <a:r>
              <a:rPr lang="ru-RU" dirty="0"/>
              <a:t>При низких издержках модели активно открывают позиции и совершают много сделок. За счёт этого достигается положительная доходность.</a:t>
            </a:r>
          </a:p>
          <a:p>
            <a:r>
              <a:rPr lang="ru-RU" dirty="0"/>
              <a:t>Но большое число сделок приводит к большим суммарным комиссиям и потерям на спреде. Поэтому при увеличении издержек преимущество быстро исчезает.</a:t>
            </a:r>
          </a:p>
          <a:p>
            <a:r>
              <a:rPr lang="ru-RU" dirty="0"/>
              <a:t>Средняя длительность удержания и доля времени в рынке показывают, что поведение стратегии зависит не только от прогноза модели, но и от правил торгового модуля.</a:t>
            </a:r>
          </a:p>
          <a:p>
            <a:r>
              <a:rPr lang="ru-RU"/>
              <a:t>Главный вывод: высокая доходность достигается за счёт активной торговли, но именно это делает стратегию уязвимой к росту издержек.</a:t>
            </a:r>
          </a:p>
        </p:txBody>
      </p:sp>
    </p:spTree>
    <p:extLst>
      <p:ext uri="{BB962C8B-B14F-4D97-AF65-F5344CB8AC3E}">
        <p14:creationId xmlns:p14="http://schemas.microsoft.com/office/powerpoint/2010/main" val="893137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dabd55fb2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01" name="Google Shape;101;gdabd55fb2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В результате работы был выполнен анализ предметной области, подготовлен набор минутных данных Московской биржи и реализован конвейер их обработки.</a:t>
            </a:r>
          </a:p>
          <a:p>
            <a:r>
              <a:rPr lang="ru-RU" dirty="0"/>
              <a:t>Также были разработаны модели прогнозирования краткосрочной доходности, реализован модуль принятия торговых решений и контур исторического тестирования.</a:t>
            </a:r>
          </a:p>
          <a:p>
            <a:r>
              <a:rPr lang="ru-RU" dirty="0"/>
              <a:t>Таким образом, поставленные задачи выполнены, а итогом работы стал программный прототип системы алгоритмического онлайн-трейдинга с использованием технологий искусственного интеллекта.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52527e0a1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07" name="Google Shape;107;g3552527e0a1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692" y="143545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Алгоритмический онлайн-трейдинг с использованием технологий искусственного интеллекта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692" y="4316822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Петров К.Ю.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БСБО-06-22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Романец А.В.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692" y="1272235"/>
            <a:ext cx="8520600" cy="59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SzPts val="990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кибербезопасности и цифровых технологий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КБ-14 «Цифровые технологии обработки данных»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B7EFB6-EFCE-A153-2421-2298C2716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897" y="0"/>
            <a:ext cx="1024190" cy="11246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079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450554" y="933031"/>
            <a:ext cx="8520600" cy="7789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Краткосрочная торговля на финансовом рынке требует быстрой обработки рыночных данных и принятия решений с учётом комиссий, спреда и риска.</a:t>
            </a:r>
          </a:p>
        </p:txBody>
      </p:sp>
      <p:sp>
        <p:nvSpPr>
          <p:cNvPr id="4" name="Google Shape;61;p14">
            <a:extLst>
              <a:ext uri="{FF2B5EF4-FFF2-40B4-BE49-F238E27FC236}">
                <a16:creationId xmlns:a16="http://schemas.microsoft.com/office/drawing/2014/main" id="{007F968C-CC83-8DAF-D6F1-57DFAC497B6B}"/>
              </a:ext>
            </a:extLst>
          </p:cNvPr>
          <p:cNvSpPr txBox="1">
            <a:spLocks/>
          </p:cNvSpPr>
          <p:nvPr/>
        </p:nvSpPr>
        <p:spPr>
          <a:xfrm>
            <a:off x="311700" y="166665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</a:t>
            </a: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область:</a:t>
            </a:r>
          </a:p>
        </p:txBody>
      </p:sp>
      <p:sp>
        <p:nvSpPr>
          <p:cNvPr id="10" name="Google Shape;61;p14">
            <a:extLst>
              <a:ext uri="{FF2B5EF4-FFF2-40B4-BE49-F238E27FC236}">
                <a16:creationId xmlns:a16="http://schemas.microsoft.com/office/drawing/2014/main" id="{218A508E-1C55-91DD-04B6-EA81F8FE08DD}"/>
              </a:ext>
            </a:extLst>
          </p:cNvPr>
          <p:cNvSpPr txBox="1">
            <a:spLocks/>
          </p:cNvSpPr>
          <p:nvPr/>
        </p:nvSpPr>
        <p:spPr>
          <a:xfrm>
            <a:off x="450554" y="2216897"/>
            <a:ext cx="8520600" cy="61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Алгоритмический онлайн-трейдинг ликвидных акций Московской биржи на основе минутных данных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OHLCV</a:t>
            </a:r>
            <a:endParaRPr lang="ru-RU" sz="1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61;p14">
            <a:extLst>
              <a:ext uri="{FF2B5EF4-FFF2-40B4-BE49-F238E27FC236}">
                <a16:creationId xmlns:a16="http://schemas.microsoft.com/office/drawing/2014/main" id="{933E4961-A895-3FB3-54CF-213D9304593B}"/>
              </a:ext>
            </a:extLst>
          </p:cNvPr>
          <p:cNvSpPr txBox="1">
            <a:spLocks/>
          </p:cNvSpPr>
          <p:nvPr/>
        </p:nvSpPr>
        <p:spPr>
          <a:xfrm>
            <a:off x="311700" y="2826443"/>
            <a:ext cx="8520600" cy="61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Мотивация</a:t>
            </a:r>
            <a:r>
              <a:rPr lang="ru-RU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2" name="Google Shape;61;p14">
            <a:extLst>
              <a:ext uri="{FF2B5EF4-FFF2-40B4-BE49-F238E27FC236}">
                <a16:creationId xmlns:a16="http://schemas.microsoft.com/office/drawing/2014/main" id="{EACC9673-60B5-E1E7-50FC-2DC6ED3C5CC6}"/>
              </a:ext>
            </a:extLst>
          </p:cNvPr>
          <p:cNvSpPr txBox="1">
            <a:spLocks/>
          </p:cNvSpPr>
          <p:nvPr/>
        </p:nvSpPr>
        <p:spPr>
          <a:xfrm>
            <a:off x="450554" y="3472706"/>
            <a:ext cx="8520600" cy="61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цены сам по себе недостаточен: необходимо преобразовать прогноз в торговое действие с учётом реальных ограничений рынка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DA5FB3A-9AB5-08E1-83B7-1034BC2005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4"/>
            <a:ext cx="8520600" cy="9478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 повышение эффективности алгоритмического трейдинга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392919"/>
            <a:ext cx="8520600" cy="31759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предметную область и существующие подходы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минутные данные по ликвидным акциям Московской биржи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модели прогнозирования доходности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модуль принятия торговых решений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историческое тестирование стратегий.</a:t>
            </a:r>
          </a:p>
          <a:p>
            <a:pPr marL="342900" lvl="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2AB655C-A9E4-181F-1B02-20662E4851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средств исторического тестирования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4DDF881-92D4-FC75-1DCF-BC41D3450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128863"/>
              </p:ext>
            </p:extLst>
          </p:nvPr>
        </p:nvGraphicFramePr>
        <p:xfrm>
          <a:off x="352840" y="1348155"/>
          <a:ext cx="8366440" cy="2731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121">
                  <a:extLst>
                    <a:ext uri="{9D8B030D-6E8A-4147-A177-3AD203B41FA5}">
                      <a16:colId xmlns:a16="http://schemas.microsoft.com/office/drawing/2014/main" val="2557347617"/>
                    </a:ext>
                  </a:extLst>
                </a:gridCol>
                <a:gridCol w="1056133">
                  <a:extLst>
                    <a:ext uri="{9D8B030D-6E8A-4147-A177-3AD203B41FA5}">
                      <a16:colId xmlns:a16="http://schemas.microsoft.com/office/drawing/2014/main" val="2319195195"/>
                    </a:ext>
                  </a:extLst>
                </a:gridCol>
                <a:gridCol w="1132596">
                  <a:extLst>
                    <a:ext uri="{9D8B030D-6E8A-4147-A177-3AD203B41FA5}">
                      <a16:colId xmlns:a16="http://schemas.microsoft.com/office/drawing/2014/main" val="100269759"/>
                    </a:ext>
                  </a:extLst>
                </a:gridCol>
                <a:gridCol w="1725085">
                  <a:extLst>
                    <a:ext uri="{9D8B030D-6E8A-4147-A177-3AD203B41FA5}">
                      <a16:colId xmlns:a16="http://schemas.microsoft.com/office/drawing/2014/main" val="1914388555"/>
                    </a:ext>
                  </a:extLst>
                </a:gridCol>
                <a:gridCol w="1633422">
                  <a:extLst>
                    <a:ext uri="{9D8B030D-6E8A-4147-A177-3AD203B41FA5}">
                      <a16:colId xmlns:a16="http://schemas.microsoft.com/office/drawing/2014/main" val="1650913469"/>
                    </a:ext>
                  </a:extLst>
                </a:gridCol>
                <a:gridCol w="1351083">
                  <a:extLst>
                    <a:ext uri="{9D8B030D-6E8A-4147-A177-3AD203B41FA5}">
                      <a16:colId xmlns:a16="http://schemas.microsoft.com/office/drawing/2014/main" val="824048194"/>
                    </a:ext>
                  </a:extLst>
                </a:gridCol>
              </a:tblGrid>
              <a:tr h="63225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Простота освоения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Гибкость настройки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Интеграция с моделями 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Пригодность для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экспериментов на данных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MOEX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Временная валидация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82096"/>
                  </a:ext>
                </a:extLst>
              </a:tr>
              <a:tr h="3751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Backtrader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896190"/>
                  </a:ext>
                </a:extLst>
              </a:tr>
              <a:tr h="3751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Zipline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483280"/>
                  </a:ext>
                </a:extLst>
              </a:tr>
              <a:tr h="3751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LEAN / QuantConnect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561469"/>
                  </a:ext>
                </a:extLst>
              </a:tr>
              <a:tr h="375128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Предлагаемое решение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796940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79B60DB-0B41-9C88-30C2-148345CE5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Материалы и методы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подготовки данных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72565" y="2058574"/>
            <a:ext cx="1740099" cy="4061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MOEX ISS API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80;p17">
            <a:extLst>
              <a:ext uri="{FF2B5EF4-FFF2-40B4-BE49-F238E27FC236}">
                <a16:creationId xmlns:a16="http://schemas.microsoft.com/office/drawing/2014/main" id="{AC0D3561-9207-39A5-B374-3265DBEC99BD}"/>
              </a:ext>
            </a:extLst>
          </p:cNvPr>
          <p:cNvSpPr txBox="1">
            <a:spLocks/>
          </p:cNvSpPr>
          <p:nvPr/>
        </p:nvSpPr>
        <p:spPr>
          <a:xfrm>
            <a:off x="4168633" y="1941315"/>
            <a:ext cx="1625647" cy="624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моделей</a:t>
            </a:r>
          </a:p>
        </p:txBody>
      </p:sp>
      <p:sp>
        <p:nvSpPr>
          <p:cNvPr id="7" name="Google Shape;80;p17">
            <a:extLst>
              <a:ext uri="{FF2B5EF4-FFF2-40B4-BE49-F238E27FC236}">
                <a16:creationId xmlns:a16="http://schemas.microsoft.com/office/drawing/2014/main" id="{2F482305-E4B7-A89E-91C9-E2392F386348}"/>
              </a:ext>
            </a:extLst>
          </p:cNvPr>
          <p:cNvSpPr txBox="1">
            <a:spLocks/>
          </p:cNvSpPr>
          <p:nvPr/>
        </p:nvSpPr>
        <p:spPr>
          <a:xfrm>
            <a:off x="2227116" y="1876042"/>
            <a:ext cx="1827065" cy="754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признаков и целей для предсказания</a:t>
            </a:r>
          </a:p>
        </p:txBody>
      </p:sp>
      <p:sp>
        <p:nvSpPr>
          <p:cNvPr id="8" name="Google Shape;80;p17">
            <a:extLst>
              <a:ext uri="{FF2B5EF4-FFF2-40B4-BE49-F238E27FC236}">
                <a16:creationId xmlns:a16="http://schemas.microsoft.com/office/drawing/2014/main" id="{767695A8-47C2-2C8C-3073-41ED342BC5A4}"/>
              </a:ext>
            </a:extLst>
          </p:cNvPr>
          <p:cNvSpPr txBox="1">
            <a:spLocks/>
          </p:cNvSpPr>
          <p:nvPr/>
        </p:nvSpPr>
        <p:spPr>
          <a:xfrm>
            <a:off x="5908732" y="1949470"/>
            <a:ext cx="1548247" cy="62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Историческое тестирование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E9C1F11-63D1-8DA9-3025-C2FD8EA7AC48}"/>
              </a:ext>
            </a:extLst>
          </p:cNvPr>
          <p:cNvCxnSpPr>
            <a:cxnSpLocks/>
          </p:cNvCxnSpPr>
          <p:nvPr/>
        </p:nvCxnSpPr>
        <p:spPr>
          <a:xfrm>
            <a:off x="713509" y="1685060"/>
            <a:ext cx="7716982" cy="0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80;p17">
            <a:extLst>
              <a:ext uri="{FF2B5EF4-FFF2-40B4-BE49-F238E27FC236}">
                <a16:creationId xmlns:a16="http://schemas.microsoft.com/office/drawing/2014/main" id="{40D90262-F775-D54F-8EA5-AEBD29D472E8}"/>
              </a:ext>
            </a:extLst>
          </p:cNvPr>
          <p:cNvSpPr txBox="1">
            <a:spLocks/>
          </p:cNvSpPr>
          <p:nvPr/>
        </p:nvSpPr>
        <p:spPr>
          <a:xfrm>
            <a:off x="564417" y="2756667"/>
            <a:ext cx="1548247" cy="69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минутных</a:t>
            </a:r>
            <a:br>
              <a:rPr lang="ru-RU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акций</a:t>
            </a:r>
          </a:p>
        </p:txBody>
      </p:sp>
      <p:sp>
        <p:nvSpPr>
          <p:cNvPr id="15" name="Google Shape;80;p17">
            <a:extLst>
              <a:ext uri="{FF2B5EF4-FFF2-40B4-BE49-F238E27FC236}">
                <a16:creationId xmlns:a16="http://schemas.microsoft.com/office/drawing/2014/main" id="{52EAAA17-3D9C-A975-8FAD-8EA58E068A82}"/>
              </a:ext>
            </a:extLst>
          </p:cNvPr>
          <p:cNvSpPr txBox="1">
            <a:spLocks/>
          </p:cNvSpPr>
          <p:nvPr/>
        </p:nvSpPr>
        <p:spPr>
          <a:xfrm>
            <a:off x="5908732" y="2756667"/>
            <a:ext cx="2104159" cy="1007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Подбор гиперпараметров модуля принятия решений</a:t>
            </a:r>
          </a:p>
        </p:txBody>
      </p:sp>
      <p:sp>
        <p:nvSpPr>
          <p:cNvPr id="17" name="Google Shape;80;p17">
            <a:extLst>
              <a:ext uri="{FF2B5EF4-FFF2-40B4-BE49-F238E27FC236}">
                <a16:creationId xmlns:a16="http://schemas.microsoft.com/office/drawing/2014/main" id="{E542635D-4750-DA5F-C072-F6FD2D44A99F}"/>
              </a:ext>
            </a:extLst>
          </p:cNvPr>
          <p:cNvSpPr txBox="1">
            <a:spLocks/>
          </p:cNvSpPr>
          <p:nvPr/>
        </p:nvSpPr>
        <p:spPr>
          <a:xfrm>
            <a:off x="2252099" y="2821938"/>
            <a:ext cx="2032399" cy="133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Доходности</a:t>
            </a:r>
          </a:p>
          <a:p>
            <a:pPr marL="0" indent="0">
              <a:buFont typeface="Arial"/>
              <a:buNone/>
            </a:pPr>
            <a:r>
              <a:rPr lang="ru-RU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Объём и оборот</a:t>
            </a:r>
          </a:p>
          <a:p>
            <a:pPr marL="0" indent="0">
              <a:buFont typeface="Arial"/>
              <a:buNone/>
            </a:pPr>
            <a:r>
              <a:rPr lang="ru-RU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Волатильность</a:t>
            </a:r>
          </a:p>
          <a:p>
            <a:pPr marL="0" indent="0">
              <a:buFont typeface="Arial"/>
              <a:buNone/>
            </a:pPr>
            <a:r>
              <a:rPr lang="ru-RU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Временные признаки</a:t>
            </a:r>
          </a:p>
          <a:p>
            <a:pPr marL="0" indent="0">
              <a:buFont typeface="Arial"/>
              <a:buNone/>
            </a:pPr>
            <a:r>
              <a:rPr lang="ru-RU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Будущая доходность</a:t>
            </a:r>
          </a:p>
          <a:p>
            <a:pPr marL="0" indent="0">
              <a:buFont typeface="Arial"/>
              <a:buNone/>
            </a:pPr>
            <a:r>
              <a:rPr lang="ru-RU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Метка удержания позиций</a:t>
            </a:r>
          </a:p>
          <a:p>
            <a:pPr marL="0" indent="0">
              <a:buFont typeface="Arial"/>
              <a:buNone/>
            </a:pPr>
            <a:r>
              <a:rPr lang="ru-RU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Окна прошлых наблюдений</a:t>
            </a:r>
          </a:p>
        </p:txBody>
      </p:sp>
      <p:sp>
        <p:nvSpPr>
          <p:cNvPr id="19" name="Google Shape;80;p17">
            <a:extLst>
              <a:ext uri="{FF2B5EF4-FFF2-40B4-BE49-F238E27FC236}">
                <a16:creationId xmlns:a16="http://schemas.microsoft.com/office/drawing/2014/main" id="{9D7CD218-D82F-7595-B047-8E33C2969C0F}"/>
              </a:ext>
            </a:extLst>
          </p:cNvPr>
          <p:cNvSpPr txBox="1">
            <a:spLocks/>
          </p:cNvSpPr>
          <p:nvPr/>
        </p:nvSpPr>
        <p:spPr>
          <a:xfrm>
            <a:off x="4284498" y="2756667"/>
            <a:ext cx="1435472" cy="1203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Ridge</a:t>
            </a:r>
            <a:endParaRPr lang="ru-RU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</a:p>
          <a:p>
            <a:pPr marL="0" indent="0">
              <a:buFont typeface="Arial"/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GRU</a:t>
            </a:r>
          </a:p>
          <a:p>
            <a:pPr marL="0" indent="0">
              <a:buFont typeface="Arial"/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</a:p>
          <a:p>
            <a:pPr marL="0" indent="0">
              <a:buFont typeface="Arial"/>
              <a:buNone/>
            </a:pP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endParaRPr lang="ru-RU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59C7F27-2308-DF44-2AF3-ACA6BF3175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2A780F20-9E79-C391-A165-9502E33FB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299" y="2492095"/>
            <a:ext cx="2635226" cy="2118728"/>
          </a:xfrm>
        </p:spPr>
        <p:txBody>
          <a:bodyPr/>
          <a:lstStyle/>
          <a:p>
            <a:pPr marL="11430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" name="Рисунок 7" descr="PlantUML diagram">
            <a:extLst>
              <a:ext uri="{FF2B5EF4-FFF2-40B4-BE49-F238E27FC236}">
                <a16:creationId xmlns:a16="http://schemas.microsoft.com/office/drawing/2014/main" id="{DFF5848B-FB87-057A-D89F-CBA79A35F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622" y="1160606"/>
            <a:ext cx="5333924" cy="39320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69A9EF-BE3B-3AC4-193D-01516E8D0F90}"/>
              </a:ext>
            </a:extLst>
          </p:cNvPr>
          <p:cNvSpPr txBox="1"/>
          <p:nvPr/>
        </p:nvSpPr>
        <p:spPr>
          <a:xfrm>
            <a:off x="510654" y="1511205"/>
            <a:ext cx="2776722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работе прогнозирование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формирование торговых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действий были выделены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отдельные компоненты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Прогнозирование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осуществляется нейросетевой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статистической моделью,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решения принимаются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отдельным алгоритмом.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C47A364-9713-6E00-D534-2C7320E8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Архитектурные решения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4003B6A-9026-03AB-6830-62F25E4D20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4B1C7F8D-8E3B-9F42-EB01-FBA69729A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>
            <a:extLst>
              <a:ext uri="{FF2B5EF4-FFF2-40B4-BE49-F238E27FC236}">
                <a16:creationId xmlns:a16="http://schemas.microsoft.com/office/drawing/2014/main" id="{1142F66E-DF1C-B25F-F499-B90A587904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принятия решений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19">
            <a:extLst>
              <a:ext uri="{FF2B5EF4-FFF2-40B4-BE49-F238E27FC236}">
                <a16:creationId xmlns:a16="http://schemas.microsoft.com/office/drawing/2014/main" id="{DF5326CD-CCA3-8126-7891-6CC71F7DC1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PlantUML diagram">
            <a:extLst>
              <a:ext uri="{FF2B5EF4-FFF2-40B4-BE49-F238E27FC236}">
                <a16:creationId xmlns:a16="http://schemas.microsoft.com/office/drawing/2014/main" id="{3B522310-3928-727C-4257-60E979209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214" y="909929"/>
            <a:ext cx="2299969" cy="4233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79B106-7732-C916-0784-07C130ABD5AF}"/>
              </a:ext>
            </a:extLst>
          </p:cNvPr>
          <p:cNvSpPr txBox="1"/>
          <p:nvPr/>
        </p:nvSpPr>
        <p:spPr>
          <a:xfrm>
            <a:off x="368877" y="1017725"/>
            <a:ext cx="47560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Каждую минуту алгоритм проверяет уже открытые позиции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Позиция закрывается, если: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Достигнут лимит удержания позиции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 минут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удержания недостаточен для продолжения позиции.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764591-A864-C706-2CBE-5A01B2EFC76F}"/>
              </a:ext>
            </a:extLst>
          </p:cNvPr>
          <p:cNvSpPr txBox="1"/>
          <p:nvPr/>
        </p:nvSpPr>
        <p:spPr>
          <a:xfrm>
            <a:off x="441612" y="2452200"/>
            <a:ext cx="3673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этого проверяется возможность открытия новых позиций.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9CE6BD-DE74-6BE1-D7FE-39DE76E56073}"/>
              </a:ext>
            </a:extLst>
          </p:cNvPr>
          <p:cNvSpPr txBox="1"/>
          <p:nvPr/>
        </p:nvSpPr>
        <p:spPr>
          <a:xfrm>
            <a:off x="368875" y="3024900"/>
            <a:ext cx="37459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Покупка выполняется, если: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входа выше порога;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Ожидаемая чистая доходность после издержек положительная;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нарушены ограничения по капиталу и числу позиций.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B31E7D5-67C9-3255-2463-94EBCBAB4C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201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2ECFBE8A-78D8-6862-2EE4-1111F47E6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>
            <a:extLst>
              <a:ext uri="{FF2B5EF4-FFF2-40B4-BE49-F238E27FC236}">
                <a16:creationId xmlns:a16="http://schemas.microsoft.com/office/drawing/2014/main" id="{999E019B-5396-0992-D3A2-0E41712440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Прогнозы моделей и параметры исторического тестирования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19">
            <a:extLst>
              <a:ext uri="{FF2B5EF4-FFF2-40B4-BE49-F238E27FC236}">
                <a16:creationId xmlns:a16="http://schemas.microsoft.com/office/drawing/2014/main" id="{CB5F7715-7052-B331-2A2E-4D9175529C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 descr="PlantUML diagram">
            <a:extLst>
              <a:ext uri="{FF2B5EF4-FFF2-40B4-BE49-F238E27FC236}">
                <a16:creationId xmlns:a16="http://schemas.microsoft.com/office/drawing/2014/main" id="{21B34CED-BCB9-EA8D-0F9D-0EB4DD32C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3925"/>
            <a:ext cx="9144000" cy="23400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F3F427-9A41-AC7C-74A1-4C461FB8BE12}"/>
              </a:ext>
            </a:extLst>
          </p:cNvPr>
          <p:cNvSpPr txBox="1"/>
          <p:nvPr/>
        </p:nvSpPr>
        <p:spPr>
          <a:xfrm>
            <a:off x="311700" y="3281237"/>
            <a:ext cx="34411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предсказывают не торговое действие, а ожидаемую доходность для входа и удержания позиции на горизонтах от 1 до 15 минут.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A9FD7BC-3BDA-42D9-2031-F15A8EA26E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5DCBC-34CE-5961-A560-EBEE83F700C2}"/>
              </a:ext>
            </a:extLst>
          </p:cNvPr>
          <p:cNvSpPr txBox="1"/>
          <p:nvPr/>
        </p:nvSpPr>
        <p:spPr>
          <a:xfrm>
            <a:off x="5235302" y="3281238"/>
            <a:ext cx="35969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о покупке, удержании или продаже принимает отдельный модуль, который учитывает прогноз, порог входа, число позиций, издержки и лимит удержания.</a:t>
            </a:r>
          </a:p>
        </p:txBody>
      </p:sp>
    </p:spTree>
    <p:extLst>
      <p:ext uri="{BB962C8B-B14F-4D97-AF65-F5344CB8AC3E}">
        <p14:creationId xmlns:p14="http://schemas.microsoft.com/office/powerpoint/2010/main" val="3998160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торговой стратегии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75E662-A8F5-EFD1-7E0D-EE48A08C5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44" y="1017725"/>
            <a:ext cx="7334711" cy="412577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AAC3570-04C9-268F-D629-AF60B902A9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7080246-6243-FAA7-F4E7-F5799C5B8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>
            <a:extLst>
              <a:ext uri="{FF2B5EF4-FFF2-40B4-BE49-F238E27FC236}">
                <a16:creationId xmlns:a16="http://schemas.microsoft.com/office/drawing/2014/main" id="{98F9EA79-B61B-DD90-2167-3B904E0AAE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Объяснение поведения стратегии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20">
            <a:extLst>
              <a:ext uri="{FF2B5EF4-FFF2-40B4-BE49-F238E27FC236}">
                <a16:creationId xmlns:a16="http://schemas.microsoft.com/office/drawing/2014/main" id="{25620591-936A-8886-5FD1-24E842859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/>
              <a:t> 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91E914-1929-1446-2525-F6209DA05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44" y="1017725"/>
            <a:ext cx="7334711" cy="412577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1DF3C31-67DA-0BA5-A8D5-B0895E8A7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10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579448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работы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311700" y="1051200"/>
            <a:ext cx="8520600" cy="3915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 анализ предметной области и существующих подходов;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Подготовлен набор минутных данных Московской биржи;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конвейер обработки данных и формирования признаков;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модели прогнозирования краткосрочной доходности;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модуль принятия торговых решений;</a:t>
            </a:r>
          </a:p>
          <a:p>
            <a:pPr marL="285750" indent="-28575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историческое тестирование и оценены результаты по прибыли, просадке, обороту и числу сделок.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Итог: разработан программный прототип системы алгоритмического онлайн-трейдинга.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8426328-83D2-0A5E-400A-64C200238F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0119EA9-20BB-05BC-28FA-255845194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1343</Words>
  <Application>Microsoft Office PowerPoint</Application>
  <PresentationFormat>Экран (16:9)</PresentationFormat>
  <Paragraphs>152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Simple Light</vt:lpstr>
      <vt:lpstr>Тема: Алгоритмический онлайн-трейдинг с использованием технологий искусственного интеллекта</vt:lpstr>
      <vt:lpstr>Актуальность:</vt:lpstr>
      <vt:lpstr>Цель работы: повышение эффективности алгоритмического трейдинга</vt:lpstr>
      <vt:lpstr>Сравнение средств исторического тестирования</vt:lpstr>
      <vt:lpstr>Материалы и методы подготовки данных</vt:lpstr>
      <vt:lpstr>Архитектурные решения</vt:lpstr>
      <vt:lpstr>Алгоритм принятия решений</vt:lpstr>
      <vt:lpstr>Прогнозы моделей и параметры исторического тестирования</vt:lpstr>
      <vt:lpstr>Результаты торговой стратегии</vt:lpstr>
      <vt:lpstr>Объяснение поведения стратегии</vt:lpstr>
      <vt:lpstr>Результаты работы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Кирилл Петров</cp:lastModifiedBy>
  <cp:revision>33</cp:revision>
  <dcterms:modified xsi:type="dcterms:W3CDTF">2026-05-16T09:58:33Z</dcterms:modified>
</cp:coreProperties>
</file>