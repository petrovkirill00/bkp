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7689" r:id="rId2"/>
    <p:sldId id="257" r:id="rId3"/>
    <p:sldId id="258" r:id="rId4"/>
    <p:sldId id="270" r:id="rId5"/>
    <p:sldId id="269" r:id="rId6"/>
    <p:sldId id="260" r:id="rId7"/>
    <p:sldId id="261" r:id="rId8"/>
    <p:sldId id="266" r:id="rId9"/>
    <p:sldId id="267" r:id="rId10"/>
    <p:sldId id="271" r:id="rId11"/>
    <p:sldId id="272" r:id="rId12"/>
    <p:sldId id="273" r:id="rId13"/>
    <p:sldId id="274" r:id="rId14"/>
    <p:sldId id="275" r:id="rId15"/>
    <p:sldId id="264" r:id="rId16"/>
    <p:sldId id="7669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49" autoAdjust="0"/>
  </p:normalViewPr>
  <p:slideViewPr>
    <p:cSldViewPr snapToGrid="0">
      <p:cViewPr varScale="1">
        <p:scale>
          <a:sx n="135" d="100"/>
          <a:sy n="135" d="100"/>
        </p:scale>
        <p:origin x="846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dabd55fb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59" name="Google Shape;59;gdabd55fb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dabd55fb2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65" name="Google Shape;65;gdabd55fb2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8347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A380101B-FF3D-29F6-3DFD-0EB9BFAB2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dabd55fb20_0_15:notes">
            <a:extLst>
              <a:ext uri="{FF2B5EF4-FFF2-40B4-BE49-F238E27FC236}">
                <a16:creationId xmlns:a16="http://schemas.microsoft.com/office/drawing/2014/main" id="{0AAAA66E-7A7F-11BB-F046-E59A60D63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71" name="Google Shape;71;gdabd55fb20_0_15:notes">
            <a:extLst>
              <a:ext uri="{FF2B5EF4-FFF2-40B4-BE49-F238E27FC236}">
                <a16:creationId xmlns:a16="http://schemas.microsoft.com/office/drawing/2014/main" id="{A2D2D544-68BD-D51F-7B28-DBADE64275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5327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abd55fb2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77" name="Google Shape;77;gdabd55fb2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52527e0a1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83" name="Google Shape;83;g3552527e0a1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C24D11D5-909D-B567-263B-CD2E591E3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52527e0a1_1_0:notes">
            <a:extLst>
              <a:ext uri="{FF2B5EF4-FFF2-40B4-BE49-F238E27FC236}">
                <a16:creationId xmlns:a16="http://schemas.microsoft.com/office/drawing/2014/main" id="{AFB76F5B-A748-39B3-4316-DE2A7F2C61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89" name="Google Shape;89;g3552527e0a1_1_0:notes">
            <a:extLst>
              <a:ext uri="{FF2B5EF4-FFF2-40B4-BE49-F238E27FC236}">
                <a16:creationId xmlns:a16="http://schemas.microsoft.com/office/drawing/2014/main" id="{CF982FC0-9EF7-485D-C1F7-9E2FED0C69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5272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61BD3947-C1E8-DC48-8F67-C6EA98F8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52527e0a1_1_0:notes">
            <a:extLst>
              <a:ext uri="{FF2B5EF4-FFF2-40B4-BE49-F238E27FC236}">
                <a16:creationId xmlns:a16="http://schemas.microsoft.com/office/drawing/2014/main" id="{B5AEF8AC-09B0-0057-12A9-F9FC8E8B4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89" name="Google Shape;89;g3552527e0a1_1_0:notes">
            <a:extLst>
              <a:ext uri="{FF2B5EF4-FFF2-40B4-BE49-F238E27FC236}">
                <a16:creationId xmlns:a16="http://schemas.microsoft.com/office/drawing/2014/main" id="{5682DA1C-92D4-F969-3AC6-CC70A57A42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4705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9246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dabd55fb2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01" name="Google Shape;101;gdabd55fb2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e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Обложка ИК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CC357728-1107-982E-1720-4FEEEC1C56C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820768">
            <a:off x="784328" y="611729"/>
            <a:ext cx="3082563" cy="308256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E9178CDB-BE4E-0B50-6818-E599D3B135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6377163" y="2518270"/>
            <a:ext cx="3642212" cy="3642211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104722A2-74AC-00F4-5D8D-E6D6F9B17D5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2303847" y="2293608"/>
            <a:ext cx="5143500" cy="556284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470" y="1198"/>
          <a:ext cx="1465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70" y="1198"/>
                        <a:ext cx="1465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D2E211F-BDCE-097A-80FB-547B32C98816}"/>
              </a:ext>
            </a:extLst>
          </p:cNvPr>
          <p:cNvSpPr/>
          <p:nvPr userDrawn="1"/>
        </p:nvSpPr>
        <p:spPr>
          <a:xfrm rot="2053506">
            <a:off x="4871138" y="2161216"/>
            <a:ext cx="5030999" cy="5031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7FA030-DE53-C4A9-1A86-A8DA88495C71}"/>
              </a:ext>
            </a:extLst>
          </p:cNvPr>
          <p:cNvSpPr/>
          <p:nvPr userDrawn="1"/>
        </p:nvSpPr>
        <p:spPr>
          <a:xfrm>
            <a:off x="2414588" y="5143500"/>
            <a:ext cx="8042955" cy="21226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91022C-F974-7F2E-2F53-C14C7F4954D0}"/>
              </a:ext>
            </a:extLst>
          </p:cNvPr>
          <p:cNvSpPr/>
          <p:nvPr userDrawn="1"/>
        </p:nvSpPr>
        <p:spPr>
          <a:xfrm>
            <a:off x="9131074" y="2171700"/>
            <a:ext cx="867719" cy="359934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5B98F46-E2B9-3FC7-DDA4-37ACC0431281}"/>
              </a:ext>
            </a:extLst>
          </p:cNvPr>
          <p:cNvSpPr txBox="1">
            <a:spLocks/>
          </p:cNvSpPr>
          <p:nvPr userDrawn="1"/>
        </p:nvSpPr>
        <p:spPr>
          <a:xfrm>
            <a:off x="1802192" y="276652"/>
            <a:ext cx="2607576" cy="524553"/>
          </a:xfrm>
          <a:prstGeom prst="rect">
            <a:avLst/>
          </a:prstGeom>
          <a:noFill/>
        </p:spPr>
        <p:txBody>
          <a:bodyPr vert="horz" wrap="square" lIns="0" tIns="54000" rIns="0" bIns="54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3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006D8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кибербезопасности и цифровых технологий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695F5D9-44C1-3B60-615E-CFC891B9F261}"/>
              </a:ext>
            </a:extLst>
          </p:cNvPr>
          <p:cNvGrpSpPr/>
          <p:nvPr userDrawn="1"/>
        </p:nvGrpSpPr>
        <p:grpSpPr>
          <a:xfrm>
            <a:off x="7215187" y="397920"/>
            <a:ext cx="1516597" cy="1063205"/>
            <a:chOff x="4091278" y="2349598"/>
            <a:chExt cx="3638550" cy="2550794"/>
          </a:xfrm>
          <a:solidFill>
            <a:srgbClr val="006D81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79C2545-29FF-13DC-A65B-19AA811039C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0B08617-615B-3ABE-6A74-081501EC3C9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F4368F59-0108-D04D-1716-A83FC54A6A2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7DADD4D8-5099-9617-34F0-96F4F38E6D1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CDF60C9C-4E91-BE00-438C-E4CEAA36CB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>
              <a:extLst>
                <a:ext uri="{FF2B5EF4-FFF2-40B4-BE49-F238E27FC236}">
                  <a16:creationId xmlns:a16="http://schemas.microsoft.com/office/drawing/2014/main" id="{D9B4FF06-310F-AE66-AE11-ACA8C9AD101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E1E08A2-DD1B-DDDE-CAAA-241A1E86EA5C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3B62BDB4-89A2-8C10-81AA-998F517A2E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8C24985-F865-D103-1F8F-D46BAA92B55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C4652D0E-9DF3-BA1C-DE91-DAD60C9F143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93006A27-860F-248F-9814-8512773B0DE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9733C3A-E31B-0594-3DD4-0527A6826B1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05B77A01-23DE-7A1F-3638-E0813202AF3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342378B2-8AE3-A9DF-7867-251050A1759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5E49CF6E-6F4D-EE30-901E-E10F3773A20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44479FC0-E90C-DA10-9A9B-6ACFDC267067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8005DDCD-971A-276A-0FEA-6D451E51151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5D978D67-6A25-BDE4-D9A0-B053B9D685CD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>
              <a:extLst>
                <a:ext uri="{FF2B5EF4-FFF2-40B4-BE49-F238E27FC236}">
                  <a16:creationId xmlns:a16="http://schemas.microsoft.com/office/drawing/2014/main" id="{479A0604-6FE9-EEDA-46A5-D02D0FEB079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411DCD52-C7F6-B252-176F-1A8AD8457E69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125F088-BCB1-B90A-5B08-496F34B0668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BD488EE1-A7E2-B85A-3B52-F3A3E06554F9}"/>
              </a:ext>
            </a:extLst>
          </p:cNvPr>
          <p:cNvSpPr txBox="1">
            <a:spLocks/>
          </p:cNvSpPr>
          <p:nvPr userDrawn="1"/>
        </p:nvSpPr>
        <p:spPr>
          <a:xfrm>
            <a:off x="1802192" y="4336829"/>
            <a:ext cx="3812761" cy="316804"/>
          </a:xfrm>
          <a:prstGeom prst="rect">
            <a:avLst/>
          </a:prstGeom>
          <a:noFill/>
        </p:spPr>
        <p:txBody>
          <a:bodyPr vert="horz" wrap="square" lIns="0" tIns="54000" rIns="0" bIns="54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3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50" b="0" i="0" u="none" strike="noStrike" kern="1200" cap="none" spc="188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9C968-B4CD-BBE7-1E70-C9BB8CC5BB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99425" y="1228278"/>
            <a:ext cx="4422594" cy="1263850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2400" b="1" kern="1200" dirty="0">
                <a:solidFill>
                  <a:srgbClr val="006D8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A9F01667-3B33-BD57-6948-1093A01E5A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0700" y="2564898"/>
            <a:ext cx="4048623" cy="415499"/>
          </a:xfrm>
          <a:prstGeom prst="rect">
            <a:avLst/>
          </a:prstGeom>
        </p:spPr>
        <p:txBody>
          <a:bodyPr lIns="0" tIns="0" rIns="0" bIns="0"/>
          <a:lstStyle>
            <a:lvl1pPr>
              <a:defRPr sz="1350">
                <a:latin typeface="Arial" panose="020B0604020202020204" pitchFamily="34" charset="0"/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3677435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A533A563-3346-30DA-73D8-CF414A70DF4A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Заголовок 6">
            <a:extLst>
              <a:ext uri="{FF2B5EF4-FFF2-40B4-BE49-F238E27FC236}">
                <a16:creationId xmlns:a16="http://schemas.microsoft.com/office/drawing/2014/main" id="{7CBA805D-7279-7177-9681-934DDAFD92E7}"/>
              </a:ext>
            </a:extLst>
          </p:cNvPr>
          <p:cNvSpPr txBox="1">
            <a:spLocks/>
          </p:cNvSpPr>
          <p:nvPr userDrawn="1"/>
        </p:nvSpPr>
        <p:spPr>
          <a:xfrm>
            <a:off x="814138" y="878719"/>
            <a:ext cx="1764566" cy="53314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58C4BDB-E3DE-EC39-2630-4061E3FA1B9B}"/>
              </a:ext>
            </a:extLst>
          </p:cNvPr>
          <p:cNvSpPr/>
          <p:nvPr userDrawn="1"/>
        </p:nvSpPr>
        <p:spPr>
          <a:xfrm>
            <a:off x="791241" y="3495720"/>
            <a:ext cx="1210723" cy="1252332"/>
          </a:xfrm>
          <a:custGeom>
            <a:avLst/>
            <a:gdLst/>
            <a:ahLst/>
            <a:cxnLst/>
            <a:rect l="l" t="t" r="r" b="b"/>
            <a:pathLst>
              <a:path w="1718310" h="1777364">
                <a:moveTo>
                  <a:pt x="1025029" y="0"/>
                </a:moveTo>
                <a:lnTo>
                  <a:pt x="1071224" y="12296"/>
                </a:lnTo>
                <a:lnTo>
                  <a:pt x="1116670" y="27000"/>
                </a:lnTo>
                <a:lnTo>
                  <a:pt x="1161265" y="44072"/>
                </a:lnTo>
                <a:lnTo>
                  <a:pt x="1204910" y="63474"/>
                </a:lnTo>
                <a:lnTo>
                  <a:pt x="1247503" y="85167"/>
                </a:lnTo>
                <a:lnTo>
                  <a:pt x="1288944" y="109112"/>
                </a:lnTo>
                <a:lnTo>
                  <a:pt x="1329132" y="135272"/>
                </a:lnTo>
                <a:lnTo>
                  <a:pt x="1367965" y="163608"/>
                </a:lnTo>
                <a:lnTo>
                  <a:pt x="1405344" y="194080"/>
                </a:lnTo>
                <a:lnTo>
                  <a:pt x="1441167" y="226650"/>
                </a:lnTo>
                <a:lnTo>
                  <a:pt x="1475333" y="261281"/>
                </a:lnTo>
                <a:lnTo>
                  <a:pt x="1507742" y="297932"/>
                </a:lnTo>
                <a:lnTo>
                  <a:pt x="1538293" y="336567"/>
                </a:lnTo>
                <a:lnTo>
                  <a:pt x="1566885" y="377145"/>
                </a:lnTo>
                <a:lnTo>
                  <a:pt x="1593418" y="419629"/>
                </a:lnTo>
                <a:lnTo>
                  <a:pt x="1617789" y="463979"/>
                </a:lnTo>
                <a:lnTo>
                  <a:pt x="1639900" y="510159"/>
                </a:lnTo>
                <a:lnTo>
                  <a:pt x="1658199" y="554365"/>
                </a:lnTo>
                <a:lnTo>
                  <a:pt x="1673991" y="598975"/>
                </a:lnTo>
                <a:lnTo>
                  <a:pt x="1687308" y="643907"/>
                </a:lnTo>
                <a:lnTo>
                  <a:pt x="1698180" y="689079"/>
                </a:lnTo>
                <a:lnTo>
                  <a:pt x="1706639" y="734408"/>
                </a:lnTo>
                <a:lnTo>
                  <a:pt x="1712717" y="779812"/>
                </a:lnTo>
                <a:lnTo>
                  <a:pt x="1716446" y="825209"/>
                </a:lnTo>
                <a:lnTo>
                  <a:pt x="1717857" y="870517"/>
                </a:lnTo>
                <a:lnTo>
                  <a:pt x="1716981" y="915653"/>
                </a:lnTo>
                <a:lnTo>
                  <a:pt x="1713850" y="960536"/>
                </a:lnTo>
                <a:lnTo>
                  <a:pt x="1708497" y="1005084"/>
                </a:lnTo>
                <a:lnTo>
                  <a:pt x="1700951" y="1049213"/>
                </a:lnTo>
                <a:lnTo>
                  <a:pt x="1691245" y="1092843"/>
                </a:lnTo>
                <a:lnTo>
                  <a:pt x="1679411" y="1135891"/>
                </a:lnTo>
                <a:lnTo>
                  <a:pt x="1665479" y="1178274"/>
                </a:lnTo>
                <a:lnTo>
                  <a:pt x="1649482" y="1219911"/>
                </a:lnTo>
                <a:lnTo>
                  <a:pt x="1631451" y="1260719"/>
                </a:lnTo>
                <a:lnTo>
                  <a:pt x="1611418" y="1300616"/>
                </a:lnTo>
                <a:lnTo>
                  <a:pt x="1589414" y="1339521"/>
                </a:lnTo>
                <a:lnTo>
                  <a:pt x="1565471" y="1377350"/>
                </a:lnTo>
                <a:lnTo>
                  <a:pt x="1539620" y="1414022"/>
                </a:lnTo>
                <a:lnTo>
                  <a:pt x="1511892" y="1449455"/>
                </a:lnTo>
                <a:lnTo>
                  <a:pt x="1482321" y="1483566"/>
                </a:lnTo>
                <a:lnTo>
                  <a:pt x="1450936" y="1516273"/>
                </a:lnTo>
                <a:lnTo>
                  <a:pt x="1417770" y="1547495"/>
                </a:lnTo>
                <a:lnTo>
                  <a:pt x="1382854" y="1577148"/>
                </a:lnTo>
                <a:lnTo>
                  <a:pt x="1346220" y="1605151"/>
                </a:lnTo>
                <a:lnTo>
                  <a:pt x="1307899" y="1631422"/>
                </a:lnTo>
                <a:lnTo>
                  <a:pt x="1267923" y="1655878"/>
                </a:lnTo>
                <a:lnTo>
                  <a:pt x="1226323" y="1678438"/>
                </a:lnTo>
                <a:lnTo>
                  <a:pt x="1183132" y="1699018"/>
                </a:lnTo>
                <a:lnTo>
                  <a:pt x="1137868" y="1717723"/>
                </a:lnTo>
                <a:lnTo>
                  <a:pt x="1092183" y="1733801"/>
                </a:lnTo>
                <a:lnTo>
                  <a:pt x="1046165" y="1747285"/>
                </a:lnTo>
                <a:lnTo>
                  <a:pt x="999903" y="1758208"/>
                </a:lnTo>
                <a:lnTo>
                  <a:pt x="953484" y="1766606"/>
                </a:lnTo>
                <a:lnTo>
                  <a:pt x="906997" y="1772511"/>
                </a:lnTo>
                <a:lnTo>
                  <a:pt x="860530" y="1775958"/>
                </a:lnTo>
                <a:lnTo>
                  <a:pt x="814170" y="1776981"/>
                </a:lnTo>
                <a:lnTo>
                  <a:pt x="768007" y="1775613"/>
                </a:lnTo>
                <a:lnTo>
                  <a:pt x="722128" y="1771888"/>
                </a:lnTo>
                <a:lnTo>
                  <a:pt x="676622" y="1765841"/>
                </a:lnTo>
                <a:lnTo>
                  <a:pt x="631576" y="1757505"/>
                </a:lnTo>
                <a:lnTo>
                  <a:pt x="587078" y="1746914"/>
                </a:lnTo>
                <a:lnTo>
                  <a:pt x="543218" y="1734102"/>
                </a:lnTo>
                <a:lnTo>
                  <a:pt x="500083" y="1719103"/>
                </a:lnTo>
                <a:lnTo>
                  <a:pt x="457760" y="1701951"/>
                </a:lnTo>
                <a:lnTo>
                  <a:pt x="416340" y="1682679"/>
                </a:lnTo>
                <a:lnTo>
                  <a:pt x="375908" y="1661322"/>
                </a:lnTo>
                <a:lnTo>
                  <a:pt x="336555" y="1637913"/>
                </a:lnTo>
                <a:lnTo>
                  <a:pt x="298367" y="1612487"/>
                </a:lnTo>
                <a:lnTo>
                  <a:pt x="261433" y="1585077"/>
                </a:lnTo>
                <a:lnTo>
                  <a:pt x="225841" y="1555717"/>
                </a:lnTo>
                <a:lnTo>
                  <a:pt x="191679" y="1524441"/>
                </a:lnTo>
                <a:lnTo>
                  <a:pt x="159036" y="1491283"/>
                </a:lnTo>
                <a:lnTo>
                  <a:pt x="127999" y="1456277"/>
                </a:lnTo>
                <a:lnTo>
                  <a:pt x="98657" y="1419456"/>
                </a:lnTo>
                <a:lnTo>
                  <a:pt x="71098" y="1380855"/>
                </a:lnTo>
                <a:lnTo>
                  <a:pt x="45410" y="1340508"/>
                </a:lnTo>
                <a:lnTo>
                  <a:pt x="21681" y="1298447"/>
                </a:lnTo>
                <a:lnTo>
                  <a:pt x="0" y="1254709"/>
                </a:lnTo>
              </a:path>
            </a:pathLst>
          </a:custGeom>
          <a:ln w="8089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22A248A-A0DD-F7FB-96EE-67FD16F436E1}"/>
              </a:ext>
            </a:extLst>
          </p:cNvPr>
          <p:cNvSpPr/>
          <p:nvPr userDrawn="1"/>
        </p:nvSpPr>
        <p:spPr>
          <a:xfrm>
            <a:off x="-31756" y="2557977"/>
            <a:ext cx="1542710" cy="1843377"/>
          </a:xfrm>
          <a:custGeom>
            <a:avLst/>
            <a:gdLst/>
            <a:ahLst/>
            <a:cxnLst/>
            <a:rect l="l" t="t" r="r" b="b"/>
            <a:pathLst>
              <a:path w="2189480" h="2616200">
                <a:moveTo>
                  <a:pt x="0" y="2274576"/>
                </a:moveTo>
                <a:lnTo>
                  <a:pt x="43686" y="2312872"/>
                </a:lnTo>
                <a:lnTo>
                  <a:pt x="78452" y="2340869"/>
                </a:lnTo>
                <a:lnTo>
                  <a:pt x="114158" y="2367678"/>
                </a:lnTo>
                <a:lnTo>
                  <a:pt x="150774" y="2393274"/>
                </a:lnTo>
                <a:lnTo>
                  <a:pt x="188268" y="2417628"/>
                </a:lnTo>
                <a:lnTo>
                  <a:pt x="226609" y="2440713"/>
                </a:lnTo>
                <a:lnTo>
                  <a:pt x="265764" y="2462502"/>
                </a:lnTo>
                <a:lnTo>
                  <a:pt x="305702" y="2482967"/>
                </a:lnTo>
                <a:lnTo>
                  <a:pt x="346392" y="2502082"/>
                </a:lnTo>
                <a:lnTo>
                  <a:pt x="387801" y="2519819"/>
                </a:lnTo>
                <a:lnTo>
                  <a:pt x="429899" y="2536151"/>
                </a:lnTo>
                <a:lnTo>
                  <a:pt x="472653" y="2551050"/>
                </a:lnTo>
                <a:lnTo>
                  <a:pt x="516032" y="2564489"/>
                </a:lnTo>
                <a:lnTo>
                  <a:pt x="560004" y="2576440"/>
                </a:lnTo>
                <a:lnTo>
                  <a:pt x="604537" y="2586878"/>
                </a:lnTo>
                <a:lnTo>
                  <a:pt x="649601" y="2595773"/>
                </a:lnTo>
                <a:lnTo>
                  <a:pt x="695163" y="2603099"/>
                </a:lnTo>
                <a:lnTo>
                  <a:pt x="741191" y="2608829"/>
                </a:lnTo>
                <a:lnTo>
                  <a:pt x="787655" y="2612935"/>
                </a:lnTo>
                <a:lnTo>
                  <a:pt x="834521" y="2615390"/>
                </a:lnTo>
                <a:lnTo>
                  <a:pt x="881760" y="2616167"/>
                </a:lnTo>
                <a:lnTo>
                  <a:pt x="929338" y="2615238"/>
                </a:lnTo>
                <a:lnTo>
                  <a:pt x="977225" y="2612576"/>
                </a:lnTo>
                <a:lnTo>
                  <a:pt x="1024985" y="2608195"/>
                </a:lnTo>
                <a:lnTo>
                  <a:pt x="1072185" y="2602144"/>
                </a:lnTo>
                <a:lnTo>
                  <a:pt x="1118799" y="2594456"/>
                </a:lnTo>
                <a:lnTo>
                  <a:pt x="1164800" y="2585162"/>
                </a:lnTo>
                <a:lnTo>
                  <a:pt x="1210160" y="2574293"/>
                </a:lnTo>
                <a:lnTo>
                  <a:pt x="1254852" y="2561883"/>
                </a:lnTo>
                <a:lnTo>
                  <a:pt x="1298848" y="2547961"/>
                </a:lnTo>
                <a:lnTo>
                  <a:pt x="1342122" y="2532560"/>
                </a:lnTo>
                <a:lnTo>
                  <a:pt x="1384646" y="2515711"/>
                </a:lnTo>
                <a:lnTo>
                  <a:pt x="1426392" y="2497446"/>
                </a:lnTo>
                <a:lnTo>
                  <a:pt x="1467334" y="2477798"/>
                </a:lnTo>
                <a:lnTo>
                  <a:pt x="1507443" y="2456796"/>
                </a:lnTo>
                <a:lnTo>
                  <a:pt x="1546694" y="2434473"/>
                </a:lnTo>
                <a:lnTo>
                  <a:pt x="1585058" y="2410861"/>
                </a:lnTo>
                <a:lnTo>
                  <a:pt x="1622508" y="2385992"/>
                </a:lnTo>
                <a:lnTo>
                  <a:pt x="1659017" y="2359896"/>
                </a:lnTo>
                <a:lnTo>
                  <a:pt x="1694557" y="2332605"/>
                </a:lnTo>
                <a:lnTo>
                  <a:pt x="1729102" y="2304152"/>
                </a:lnTo>
                <a:lnTo>
                  <a:pt x="1762624" y="2274568"/>
                </a:lnTo>
                <a:lnTo>
                  <a:pt x="1795095" y="2243885"/>
                </a:lnTo>
                <a:lnTo>
                  <a:pt x="1826489" y="2212133"/>
                </a:lnTo>
                <a:lnTo>
                  <a:pt x="1856777" y="2179345"/>
                </a:lnTo>
                <a:lnTo>
                  <a:pt x="1885934" y="2145553"/>
                </a:lnTo>
                <a:lnTo>
                  <a:pt x="1913931" y="2110788"/>
                </a:lnTo>
                <a:lnTo>
                  <a:pt x="1940740" y="2075081"/>
                </a:lnTo>
                <a:lnTo>
                  <a:pt x="1966336" y="2038465"/>
                </a:lnTo>
                <a:lnTo>
                  <a:pt x="1990690" y="2000971"/>
                </a:lnTo>
                <a:lnTo>
                  <a:pt x="2013776" y="1962630"/>
                </a:lnTo>
                <a:lnTo>
                  <a:pt x="2035565" y="1923475"/>
                </a:lnTo>
                <a:lnTo>
                  <a:pt x="2056031" y="1883537"/>
                </a:lnTo>
                <a:lnTo>
                  <a:pt x="2075146" y="1842848"/>
                </a:lnTo>
                <a:lnTo>
                  <a:pt x="2092883" y="1801438"/>
                </a:lnTo>
                <a:lnTo>
                  <a:pt x="2109215" y="1759341"/>
                </a:lnTo>
                <a:lnTo>
                  <a:pt x="2124114" y="1716587"/>
                </a:lnTo>
                <a:lnTo>
                  <a:pt x="2137553" y="1673209"/>
                </a:lnTo>
                <a:lnTo>
                  <a:pt x="2149505" y="1629237"/>
                </a:lnTo>
                <a:lnTo>
                  <a:pt x="2159943" y="1584704"/>
                </a:lnTo>
                <a:lnTo>
                  <a:pt x="2168839" y="1539640"/>
                </a:lnTo>
                <a:lnTo>
                  <a:pt x="2176165" y="1494079"/>
                </a:lnTo>
                <a:lnTo>
                  <a:pt x="2181895" y="1448051"/>
                </a:lnTo>
                <a:lnTo>
                  <a:pt x="2186001" y="1401588"/>
                </a:lnTo>
                <a:lnTo>
                  <a:pt x="2188457" y="1354722"/>
                </a:lnTo>
                <a:lnTo>
                  <a:pt x="2189233" y="1307484"/>
                </a:lnTo>
                <a:lnTo>
                  <a:pt x="2188305" y="1259907"/>
                </a:lnTo>
                <a:lnTo>
                  <a:pt x="2185643" y="1212020"/>
                </a:lnTo>
                <a:lnTo>
                  <a:pt x="2181260" y="1164260"/>
                </a:lnTo>
                <a:lnTo>
                  <a:pt x="2175209" y="1117059"/>
                </a:lnTo>
                <a:lnTo>
                  <a:pt x="2167520" y="1070444"/>
                </a:lnTo>
                <a:lnTo>
                  <a:pt x="2158225" y="1024443"/>
                </a:lnTo>
                <a:lnTo>
                  <a:pt x="2147356" y="979082"/>
                </a:lnTo>
                <a:lnTo>
                  <a:pt x="2134945" y="934389"/>
                </a:lnTo>
                <a:lnTo>
                  <a:pt x="2121023" y="890392"/>
                </a:lnTo>
                <a:lnTo>
                  <a:pt x="2105621" y="847118"/>
                </a:lnTo>
                <a:lnTo>
                  <a:pt x="2088772" y="804594"/>
                </a:lnTo>
                <a:lnTo>
                  <a:pt x="2070508" y="762847"/>
                </a:lnTo>
                <a:lnTo>
                  <a:pt x="2050858" y="721905"/>
                </a:lnTo>
                <a:lnTo>
                  <a:pt x="2029857" y="681795"/>
                </a:lnTo>
                <a:lnTo>
                  <a:pt x="2007534" y="642544"/>
                </a:lnTo>
                <a:lnTo>
                  <a:pt x="1983922" y="604179"/>
                </a:lnTo>
                <a:lnTo>
                  <a:pt x="1959052" y="566729"/>
                </a:lnTo>
                <a:lnTo>
                  <a:pt x="1932956" y="530219"/>
                </a:lnTo>
                <a:lnTo>
                  <a:pt x="1905666" y="494679"/>
                </a:lnTo>
                <a:lnTo>
                  <a:pt x="1877212" y="460134"/>
                </a:lnTo>
                <a:lnTo>
                  <a:pt x="1847628" y="426612"/>
                </a:lnTo>
                <a:lnTo>
                  <a:pt x="1816945" y="394140"/>
                </a:lnTo>
                <a:lnTo>
                  <a:pt x="1785193" y="362746"/>
                </a:lnTo>
                <a:lnTo>
                  <a:pt x="1752405" y="332457"/>
                </a:lnTo>
                <a:lnTo>
                  <a:pt x="1718613" y="303301"/>
                </a:lnTo>
                <a:lnTo>
                  <a:pt x="1683848" y="275304"/>
                </a:lnTo>
                <a:lnTo>
                  <a:pt x="1648141" y="248494"/>
                </a:lnTo>
                <a:lnTo>
                  <a:pt x="1611525" y="222898"/>
                </a:lnTo>
                <a:lnTo>
                  <a:pt x="1574031" y="198543"/>
                </a:lnTo>
                <a:lnTo>
                  <a:pt x="1535690" y="175458"/>
                </a:lnTo>
                <a:lnTo>
                  <a:pt x="1496535" y="153669"/>
                </a:lnTo>
                <a:lnTo>
                  <a:pt x="1456597" y="133203"/>
                </a:lnTo>
                <a:lnTo>
                  <a:pt x="1415907" y="114087"/>
                </a:lnTo>
                <a:lnTo>
                  <a:pt x="1374498" y="96350"/>
                </a:lnTo>
                <a:lnTo>
                  <a:pt x="1332400" y="80018"/>
                </a:lnTo>
                <a:lnTo>
                  <a:pt x="1289646" y="65119"/>
                </a:lnTo>
                <a:lnTo>
                  <a:pt x="1246268" y="51680"/>
                </a:lnTo>
                <a:lnTo>
                  <a:pt x="1202295" y="39728"/>
                </a:lnTo>
                <a:lnTo>
                  <a:pt x="1157762" y="29290"/>
                </a:lnTo>
                <a:lnTo>
                  <a:pt x="1112698" y="20394"/>
                </a:lnTo>
                <a:lnTo>
                  <a:pt x="1067137" y="13068"/>
                </a:lnTo>
                <a:lnTo>
                  <a:pt x="1021108" y="7338"/>
                </a:lnTo>
                <a:lnTo>
                  <a:pt x="974645" y="3232"/>
                </a:lnTo>
                <a:lnTo>
                  <a:pt x="927778" y="776"/>
                </a:lnTo>
                <a:lnTo>
                  <a:pt x="880540" y="0"/>
                </a:lnTo>
                <a:lnTo>
                  <a:pt x="832961" y="928"/>
                </a:lnTo>
                <a:lnTo>
                  <a:pt x="785074" y="3590"/>
                </a:lnTo>
                <a:lnTo>
                  <a:pt x="737315" y="7973"/>
                </a:lnTo>
                <a:lnTo>
                  <a:pt x="690114" y="14024"/>
                </a:lnTo>
                <a:lnTo>
                  <a:pt x="643500" y="21713"/>
                </a:lnTo>
                <a:lnTo>
                  <a:pt x="597499" y="31008"/>
                </a:lnTo>
                <a:lnTo>
                  <a:pt x="552139" y="41877"/>
                </a:lnTo>
                <a:lnTo>
                  <a:pt x="507448" y="54288"/>
                </a:lnTo>
                <a:lnTo>
                  <a:pt x="463451" y="68210"/>
                </a:lnTo>
                <a:lnTo>
                  <a:pt x="420177" y="83612"/>
                </a:lnTo>
                <a:lnTo>
                  <a:pt x="377654" y="100461"/>
                </a:lnTo>
                <a:lnTo>
                  <a:pt x="335907" y="118725"/>
                </a:lnTo>
                <a:lnTo>
                  <a:pt x="294966" y="138375"/>
                </a:lnTo>
                <a:lnTo>
                  <a:pt x="254856" y="159376"/>
                </a:lnTo>
                <a:lnTo>
                  <a:pt x="215605" y="181699"/>
                </a:lnTo>
                <a:lnTo>
                  <a:pt x="177241" y="205311"/>
                </a:lnTo>
                <a:lnTo>
                  <a:pt x="139791" y="230181"/>
                </a:lnTo>
                <a:lnTo>
                  <a:pt x="103282" y="256277"/>
                </a:lnTo>
                <a:lnTo>
                  <a:pt x="67742" y="283567"/>
                </a:lnTo>
                <a:lnTo>
                  <a:pt x="33197" y="312020"/>
                </a:lnTo>
                <a:lnTo>
                  <a:pt x="0" y="341319"/>
                </a:lnTo>
              </a:path>
            </a:pathLst>
          </a:custGeom>
          <a:ln w="10134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8" name="object 214">
            <a:extLst>
              <a:ext uri="{FF2B5EF4-FFF2-40B4-BE49-F238E27FC236}">
                <a16:creationId xmlns:a16="http://schemas.microsoft.com/office/drawing/2014/main" id="{AE2E3FC2-680A-B5FB-40EB-DDD44CB4E382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225628" y="1388848"/>
            <a:ext cx="1338290" cy="1338482"/>
          </a:xfrm>
          <a:prstGeom prst="rect">
            <a:avLst/>
          </a:prstGeom>
        </p:spPr>
      </p:pic>
      <p:pic>
        <p:nvPicPr>
          <p:cNvPr id="9" name="object 215">
            <a:extLst>
              <a:ext uri="{FF2B5EF4-FFF2-40B4-BE49-F238E27FC236}">
                <a16:creationId xmlns:a16="http://schemas.microsoft.com/office/drawing/2014/main" id="{D7A10BD1-70C3-A39C-A10A-37E46B183FDC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841224" y="4562928"/>
            <a:ext cx="507779" cy="5081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B1D22E-A456-2EED-61C7-922550F3676A}"/>
              </a:ext>
            </a:extLst>
          </p:cNvPr>
          <p:cNvSpPr txBox="1"/>
          <p:nvPr userDrawn="1"/>
        </p:nvSpPr>
        <p:spPr bwMode="auto">
          <a:xfrm>
            <a:off x="251223" y="2058088"/>
            <a:ext cx="864155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685835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ru-RU" sz="21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96093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31F74-F590-FF3F-4357-D28887AFB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424" y="1228278"/>
            <a:ext cx="4982376" cy="1263850"/>
          </a:xfrm>
        </p:spPr>
        <p:txBody>
          <a:bodyPr/>
          <a:lstStyle/>
          <a:p>
            <a:r>
              <a:rPr lang="ru-RU" dirty="0"/>
              <a:t>Тема: Алгоритмический онлайн-трейдинг с использованием технологий искусственного интеллекта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21964E-CC33-6B86-B5C9-ED0DF7C822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0700" y="2842755"/>
            <a:ext cx="4569685" cy="516782"/>
          </a:xfrm>
        </p:spPr>
        <p:txBody>
          <a:bodyPr>
            <a:normAutofit/>
          </a:bodyPr>
          <a:lstStyle/>
          <a:p>
            <a:r>
              <a:rPr lang="ru-RU" dirty="0"/>
              <a:t>Выступающий Петров К.Ю.</a:t>
            </a:r>
          </a:p>
          <a:p>
            <a:r>
              <a:rPr lang="ru-RU" dirty="0"/>
              <a:t>Руководитель Романец А.В.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E458C-8AAD-64A9-4583-694E366BAFE7}"/>
              </a:ext>
            </a:extLst>
          </p:cNvPr>
          <p:cNvSpPr txBox="1"/>
          <p:nvPr/>
        </p:nvSpPr>
        <p:spPr>
          <a:xfrm>
            <a:off x="3398945" y="3432308"/>
            <a:ext cx="1783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/>
              <a:t>Дата: 05.06.2026</a:t>
            </a:r>
          </a:p>
        </p:txBody>
      </p:sp>
    </p:spTree>
    <p:extLst>
      <p:ext uri="{BB962C8B-B14F-4D97-AF65-F5344CB8AC3E}">
        <p14:creationId xmlns:p14="http://schemas.microsoft.com/office/powerpoint/2010/main" val="1915969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079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450554" y="933030"/>
            <a:ext cx="5682494" cy="10675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Краткосрочная торговля на финансовом рынке требует быстрой обработки рыночных данных и принятия решений с учётом комиссий, спреда и риска.</a:t>
            </a:r>
          </a:p>
        </p:txBody>
      </p:sp>
      <p:sp>
        <p:nvSpPr>
          <p:cNvPr id="4" name="Google Shape;61;p14">
            <a:extLst>
              <a:ext uri="{FF2B5EF4-FFF2-40B4-BE49-F238E27FC236}">
                <a16:creationId xmlns:a16="http://schemas.microsoft.com/office/drawing/2014/main" id="{007F968C-CC83-8DAF-D6F1-57DFAC497B6B}"/>
              </a:ext>
            </a:extLst>
          </p:cNvPr>
          <p:cNvSpPr txBox="1">
            <a:spLocks/>
          </p:cNvSpPr>
          <p:nvPr/>
        </p:nvSpPr>
        <p:spPr>
          <a:xfrm>
            <a:off x="311700" y="205060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</a:t>
            </a: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область:</a:t>
            </a:r>
          </a:p>
        </p:txBody>
      </p:sp>
      <p:sp>
        <p:nvSpPr>
          <p:cNvPr id="10" name="Google Shape;61;p14">
            <a:extLst>
              <a:ext uri="{FF2B5EF4-FFF2-40B4-BE49-F238E27FC236}">
                <a16:creationId xmlns:a16="http://schemas.microsoft.com/office/drawing/2014/main" id="{218A508E-1C55-91DD-04B6-EA81F8FE08DD}"/>
              </a:ext>
            </a:extLst>
          </p:cNvPr>
          <p:cNvSpPr txBox="1">
            <a:spLocks/>
          </p:cNvSpPr>
          <p:nvPr/>
        </p:nvSpPr>
        <p:spPr>
          <a:xfrm>
            <a:off x="450554" y="2600844"/>
            <a:ext cx="5845885" cy="61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Алгоритмический онлайн-трейдинг ликвидных акций Московской биржи на основе минутных данных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OHLCV</a:t>
            </a:r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Google Shape;61;p14">
            <a:extLst>
              <a:ext uri="{FF2B5EF4-FFF2-40B4-BE49-F238E27FC236}">
                <a16:creationId xmlns:a16="http://schemas.microsoft.com/office/drawing/2014/main" id="{933E4961-A895-3FB3-54CF-213D9304593B}"/>
              </a:ext>
            </a:extLst>
          </p:cNvPr>
          <p:cNvSpPr txBox="1">
            <a:spLocks/>
          </p:cNvSpPr>
          <p:nvPr/>
        </p:nvSpPr>
        <p:spPr>
          <a:xfrm>
            <a:off x="311700" y="3318058"/>
            <a:ext cx="8520600" cy="61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Мотивация</a:t>
            </a:r>
            <a:r>
              <a:rPr lang="ru-RU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2" name="Google Shape;61;p14">
            <a:extLst>
              <a:ext uri="{FF2B5EF4-FFF2-40B4-BE49-F238E27FC236}">
                <a16:creationId xmlns:a16="http://schemas.microsoft.com/office/drawing/2014/main" id="{EACC9673-60B5-E1E7-50FC-2DC6ED3C5CC6}"/>
              </a:ext>
            </a:extLst>
          </p:cNvPr>
          <p:cNvSpPr txBox="1">
            <a:spLocks/>
          </p:cNvSpPr>
          <p:nvPr/>
        </p:nvSpPr>
        <p:spPr>
          <a:xfrm>
            <a:off x="450554" y="3856653"/>
            <a:ext cx="8520600" cy="965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 цены сам по себе недостаточен: необходимо преобразовать прогноз в торговое действие с учётом реальных ограничений рынка. Поэтому в работе разделяются прогнозирование и принятие решений.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DA5FB3A-9AB5-08E1-83B7-1034BC2005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FA9FA597-B91E-4CE1-D54D-D8736F15F9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68303" y="-108537"/>
            <a:ext cx="1774134" cy="2005100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659CBE4F-D674-CF52-CE6D-35A552E9B451}"/>
              </a:ext>
            </a:extLst>
          </p:cNvPr>
          <p:cNvGrpSpPr/>
          <p:nvPr/>
        </p:nvGrpSpPr>
        <p:grpSpPr>
          <a:xfrm>
            <a:off x="7325484" y="418958"/>
            <a:ext cx="1570943" cy="1102015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33" name="Полилиния: фигура 32">
              <a:extLst>
                <a:ext uri="{FF2B5EF4-FFF2-40B4-BE49-F238E27FC236}">
                  <a16:creationId xmlns:a16="http://schemas.microsoft.com/office/drawing/2014/main" id="{9C803908-4BD9-D27D-FA9C-CAF06C17A661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Полилиния: фигура 33">
              <a:extLst>
                <a:ext uri="{FF2B5EF4-FFF2-40B4-BE49-F238E27FC236}">
                  <a16:creationId xmlns:a16="http://schemas.microsoft.com/office/drawing/2014/main" id="{C0CC3349-4944-99B5-721C-50203B696C6C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5" name="Рисунок 56">
              <a:extLst>
                <a:ext uri="{FF2B5EF4-FFF2-40B4-BE49-F238E27FC236}">
                  <a16:creationId xmlns:a16="http://schemas.microsoft.com/office/drawing/2014/main" id="{58BB771D-6334-C2CB-5CD2-F85CF24C51AA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A547FBAC-3F72-BE94-6FB8-75373DCE7D02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14662BD5-F139-0DED-8DEE-0AD0C194D756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Рисунок 56">
              <a:extLst>
                <a:ext uri="{FF2B5EF4-FFF2-40B4-BE49-F238E27FC236}">
                  <a16:creationId xmlns:a16="http://schemas.microsoft.com/office/drawing/2014/main" id="{2C8C3A83-82F0-7044-8457-81070A00F0A4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20BD7702-9782-4C67-B818-26D98B37808F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71D10BD4-88FF-2EC3-BC7E-DD6D4F21582E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7" name="Полилиния: фигура 36">
              <a:extLst>
                <a:ext uri="{FF2B5EF4-FFF2-40B4-BE49-F238E27FC236}">
                  <a16:creationId xmlns:a16="http://schemas.microsoft.com/office/drawing/2014/main" id="{6172F0D6-19AD-2D58-4FD9-91B6E640ADE1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8" name="Рисунок 56">
              <a:extLst>
                <a:ext uri="{FF2B5EF4-FFF2-40B4-BE49-F238E27FC236}">
                  <a16:creationId xmlns:a16="http://schemas.microsoft.com/office/drawing/2014/main" id="{302958A6-1E8F-6D42-EC6A-9F5D0046EBED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8825EFA0-1F82-6817-EE6B-160274FE9B5D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8313DC46-8059-BD76-8779-782EFF26297F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>
              <a:extLst>
                <a:ext uri="{FF2B5EF4-FFF2-40B4-BE49-F238E27FC236}">
                  <a16:creationId xmlns:a16="http://schemas.microsoft.com/office/drawing/2014/main" id="{2A338874-9FD8-F411-A62E-7B9A7B2D9B3F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0D69D456-F42D-3F91-020A-6BCC1583F658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E4C6FC00-5B4F-18C0-4F19-1B62DECBA0E6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Рисунок 56">
              <a:extLst>
                <a:ext uri="{FF2B5EF4-FFF2-40B4-BE49-F238E27FC236}">
                  <a16:creationId xmlns:a16="http://schemas.microsoft.com/office/drawing/2014/main" id="{68A9A40E-2F21-70DD-8F05-4D76A4E5AB64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B27FC1E7-5BE8-40FC-86B7-055C75AD1DD7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06366C56-981F-4B47-518E-8238C259C3B9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Рисунок 56">
              <a:extLst>
                <a:ext uri="{FF2B5EF4-FFF2-40B4-BE49-F238E27FC236}">
                  <a16:creationId xmlns:a16="http://schemas.microsoft.com/office/drawing/2014/main" id="{2C72C783-D24C-1468-0122-560AC8E770A0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2" name="Полилиния: фигура 41">
                <a:extLst>
                  <a:ext uri="{FF2B5EF4-FFF2-40B4-BE49-F238E27FC236}">
                    <a16:creationId xmlns:a16="http://schemas.microsoft.com/office/drawing/2014/main" id="{4A618E77-6388-CCC6-FB59-6AD1462E57B7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>
                <a:extLst>
                  <a:ext uri="{FF2B5EF4-FFF2-40B4-BE49-F238E27FC236}">
                    <a16:creationId xmlns:a16="http://schemas.microsoft.com/office/drawing/2014/main" id="{9782CB66-675B-1AE8-3929-548FAEC724CA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4"/>
            <a:ext cx="5805835" cy="9478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 повышение эффективности алгоритмического трейдинга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2017285"/>
            <a:ext cx="8520600" cy="21901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342900" lvl="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предметную область и существующие подходы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lvl="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Подготовить минутные данные по ликвидным акциям Московской биржи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 прогнозирования доходности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lvl="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модуль принятия торговых решений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историческое тестирование стратегий.</a:t>
            </a:r>
          </a:p>
          <a:p>
            <a:pPr marL="342900" lvl="0">
              <a:buFont typeface="+mj-lt"/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2AB655C-A9E4-181F-1B02-20662E4851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639D5812-1B80-B291-9557-FCFF3E4D92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68303" y="-108537"/>
            <a:ext cx="1774134" cy="2005100"/>
          </a:xfrm>
          <a:prstGeom prst="rect">
            <a:avLst/>
          </a:prstGeom>
        </p:spPr>
      </p:pic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61F9839E-8B13-4838-0928-83A9C84BB24F}"/>
              </a:ext>
            </a:extLst>
          </p:cNvPr>
          <p:cNvGrpSpPr/>
          <p:nvPr/>
        </p:nvGrpSpPr>
        <p:grpSpPr>
          <a:xfrm>
            <a:off x="7325484" y="418958"/>
            <a:ext cx="1570943" cy="1102015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50" name="Полилиния: фигура 49">
              <a:extLst>
                <a:ext uri="{FF2B5EF4-FFF2-40B4-BE49-F238E27FC236}">
                  <a16:creationId xmlns:a16="http://schemas.microsoft.com/office/drawing/2014/main" id="{F07A2F64-282D-2469-DE65-BA417B22E9E3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Полилиния: фигура 50">
              <a:extLst>
                <a:ext uri="{FF2B5EF4-FFF2-40B4-BE49-F238E27FC236}">
                  <a16:creationId xmlns:a16="http://schemas.microsoft.com/office/drawing/2014/main" id="{ACFE8847-50EF-C420-9D4E-CD3CCD6F035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52" name="Рисунок 56">
              <a:extLst>
                <a:ext uri="{FF2B5EF4-FFF2-40B4-BE49-F238E27FC236}">
                  <a16:creationId xmlns:a16="http://schemas.microsoft.com/office/drawing/2014/main" id="{51E7FBC2-E159-F195-2E4E-624F515CEADA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71" name="Полилиния: фигура 70">
                <a:extLst>
                  <a:ext uri="{FF2B5EF4-FFF2-40B4-BE49-F238E27FC236}">
                    <a16:creationId xmlns:a16="http://schemas.microsoft.com/office/drawing/2014/main" id="{2FF7D275-A69A-1759-B8C5-9A32ABC03B42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2" name="Полилиния: фигура 71">
                <a:extLst>
                  <a:ext uri="{FF2B5EF4-FFF2-40B4-BE49-F238E27FC236}">
                    <a16:creationId xmlns:a16="http://schemas.microsoft.com/office/drawing/2014/main" id="{B5CC706E-9A3F-19BD-EC29-4E0D26388FB4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Рисунок 56">
              <a:extLst>
                <a:ext uri="{FF2B5EF4-FFF2-40B4-BE49-F238E27FC236}">
                  <a16:creationId xmlns:a16="http://schemas.microsoft.com/office/drawing/2014/main" id="{6FEB9611-2AD1-F375-FD1C-B5D85A60927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69" name="Полилиния: фигура 68">
                <a:extLst>
                  <a:ext uri="{FF2B5EF4-FFF2-40B4-BE49-F238E27FC236}">
                    <a16:creationId xmlns:a16="http://schemas.microsoft.com/office/drawing/2014/main" id="{DCC2A39B-317A-3DCC-F821-5CFC428296DF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0" name="Полилиния: фигура 69">
                <a:extLst>
                  <a:ext uri="{FF2B5EF4-FFF2-40B4-BE49-F238E27FC236}">
                    <a16:creationId xmlns:a16="http://schemas.microsoft.com/office/drawing/2014/main" id="{70BB2092-A6A8-F6D1-ED3A-447CE6C7AF4A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54" name="Полилиния: фигура 53">
              <a:extLst>
                <a:ext uri="{FF2B5EF4-FFF2-40B4-BE49-F238E27FC236}">
                  <a16:creationId xmlns:a16="http://schemas.microsoft.com/office/drawing/2014/main" id="{DE507208-7991-C7E5-BD60-66E4CD11F2BD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55" name="Рисунок 56">
              <a:extLst>
                <a:ext uri="{FF2B5EF4-FFF2-40B4-BE49-F238E27FC236}">
                  <a16:creationId xmlns:a16="http://schemas.microsoft.com/office/drawing/2014/main" id="{C1252738-B0A3-0C56-41EC-E79D19E3C332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65" name="Полилиния: фигура 64">
                <a:extLst>
                  <a:ext uri="{FF2B5EF4-FFF2-40B4-BE49-F238E27FC236}">
                    <a16:creationId xmlns:a16="http://schemas.microsoft.com/office/drawing/2014/main" id="{C2BF8FC1-07AE-A8B7-E80D-AA575482ECFD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>
                <a:extLst>
                  <a:ext uri="{FF2B5EF4-FFF2-40B4-BE49-F238E27FC236}">
                    <a16:creationId xmlns:a16="http://schemas.microsoft.com/office/drawing/2014/main" id="{1DCD5C4C-DF53-36A7-7E39-0A89762D40CE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6" name="Рисунок 56">
              <a:extLst>
                <a:ext uri="{FF2B5EF4-FFF2-40B4-BE49-F238E27FC236}">
                  <a16:creationId xmlns:a16="http://schemas.microsoft.com/office/drawing/2014/main" id="{496A4CA7-858B-A596-3136-09319DBF082C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63" name="Полилиния: фигура 62">
                <a:extLst>
                  <a:ext uri="{FF2B5EF4-FFF2-40B4-BE49-F238E27FC236}">
                    <a16:creationId xmlns:a16="http://schemas.microsoft.com/office/drawing/2014/main" id="{3B33C4F1-037A-3942-FB41-A5F688255200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>
                <a:extLst>
                  <a:ext uri="{FF2B5EF4-FFF2-40B4-BE49-F238E27FC236}">
                    <a16:creationId xmlns:a16="http://schemas.microsoft.com/office/drawing/2014/main" id="{FD050262-4064-43C4-D2DF-1740F933AA04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Рисунок 56">
              <a:extLst>
                <a:ext uri="{FF2B5EF4-FFF2-40B4-BE49-F238E27FC236}">
                  <a16:creationId xmlns:a16="http://schemas.microsoft.com/office/drawing/2014/main" id="{75152462-03BB-604F-938B-4C5BE5BE110F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61" name="Полилиния: фигура 60">
                <a:extLst>
                  <a:ext uri="{FF2B5EF4-FFF2-40B4-BE49-F238E27FC236}">
                    <a16:creationId xmlns:a16="http://schemas.microsoft.com/office/drawing/2014/main" id="{542901C5-E686-BF4D-0506-0F350161873A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>
                <a:extLst>
                  <a:ext uri="{FF2B5EF4-FFF2-40B4-BE49-F238E27FC236}">
                    <a16:creationId xmlns:a16="http://schemas.microsoft.com/office/drawing/2014/main" id="{9A3F0C72-D487-C7CA-8A9C-9917D9CDA6E7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8" name="Рисунок 56">
              <a:extLst>
                <a:ext uri="{FF2B5EF4-FFF2-40B4-BE49-F238E27FC236}">
                  <a16:creationId xmlns:a16="http://schemas.microsoft.com/office/drawing/2014/main" id="{05A69472-2C0B-2A41-E74D-409F51B68D7E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59" name="Полилиния: фигура 58">
                <a:extLst>
                  <a:ext uri="{FF2B5EF4-FFF2-40B4-BE49-F238E27FC236}">
                    <a16:creationId xmlns:a16="http://schemas.microsoft.com/office/drawing/2014/main" id="{92DB50D5-EB5F-0352-15FE-50D4637EB9E4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>
                <a:extLst>
                  <a:ext uri="{FF2B5EF4-FFF2-40B4-BE49-F238E27FC236}">
                    <a16:creationId xmlns:a16="http://schemas.microsoft.com/office/drawing/2014/main" id="{65822B54-D477-99C5-F335-B06B9124BEF1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6937B550-B490-E334-D0C0-CEB3B6C90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A81207-E4B4-151D-0C5F-5DF1A9CC42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7078B-B912-5E49-9145-29193856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Общий подход к решению задачи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66B09-1390-E75C-6FA9-86761AC638A1}"/>
              </a:ext>
            </a:extLst>
          </p:cNvPr>
          <p:cNvSpPr txBox="1"/>
          <p:nvPr/>
        </p:nvSpPr>
        <p:spPr>
          <a:xfrm>
            <a:off x="50661" y="1279156"/>
            <a:ext cx="35906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эффективности заключается в создании единого модуля принятия решений и предложении стратегий на основе искусственного интеллекта – методы машинного обучения и нейросетевые модели.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взяты существующие стратегии на основе правил и предложены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подходы, которые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имеют более высокую предсказательную силу.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Общий контур решения представлен на диаграмме вариантов использования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06E093-DEB9-AE96-FC6A-86F17A9D1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68303" y="-108537"/>
            <a:ext cx="1774134" cy="2005100"/>
          </a:xfrm>
          <a:prstGeom prst="rect">
            <a:avLst/>
          </a:prstGeom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8092D69-462B-E65C-69B9-4D1636D9DFA0}"/>
              </a:ext>
            </a:extLst>
          </p:cNvPr>
          <p:cNvGrpSpPr/>
          <p:nvPr/>
        </p:nvGrpSpPr>
        <p:grpSpPr>
          <a:xfrm>
            <a:off x="7325484" y="418958"/>
            <a:ext cx="1570943" cy="1102015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82AF4472-55E0-46F2-8738-D18C3734753C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EA633093-1B36-A14B-1DFF-62BDD0359816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05A38DA9-74C8-72B7-9122-38B8CB8D3A53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FE0B7B04-39F2-80E2-26E8-29A74FF3103F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B91C5191-D1E0-0489-4F69-EF8FF024E18F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F204A306-364B-BDED-41E3-1853A2D8D0E0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34034D01-D92B-88B1-DA22-85521830502D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8B2AD43D-FFEB-B538-C9D1-AFA1D979E8C5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B2307799-F801-80C8-74C4-B6D7F8458FDE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92ABC748-0F83-4143-2ABC-DE641967D697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E2D3FC4-15E0-CEA0-889D-C7FC53ED382E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4C5DEDEC-EC90-0F9E-722A-CC6CC90DF326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C43FB62B-C153-28A9-6924-5D474B8DD839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A4ED034B-79A9-41EB-0E3E-F0F39BDC21A6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2F128E04-EB97-AB32-1A9D-9343E72622CF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90F4F19A-9E82-BC2E-C90A-8D494678FA2B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1E3CFFE3-5878-3981-A860-2FD64AC6C3FD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52726C30-51CE-DC28-6236-13C08AFC5B70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47D6F241-BA06-E7A4-48FA-780A888053DA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0ACBD6FD-812B-B1A9-751A-58458FA5B5E2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75BD553-9F7D-1271-9688-197DABEE5308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6" name="Рисунок 5" descr="PlantUML diagram">
            <a:extLst>
              <a:ext uri="{FF2B5EF4-FFF2-40B4-BE49-F238E27FC236}">
                <a16:creationId xmlns:a16="http://schemas.microsoft.com/office/drawing/2014/main" id="{7EA84374-0303-580E-D954-2232B2DD8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648" y="1279155"/>
            <a:ext cx="3348250" cy="377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84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39C047DD-5203-4C43-5A2C-CE3A00FF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58903E45-3EAE-7775-8C5F-032778361B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методов прогнозирования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ACA3AA35-A51E-AFB7-0E02-07C62F9A7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108209"/>
              </p:ext>
            </p:extLst>
          </p:nvPr>
        </p:nvGraphicFramePr>
        <p:xfrm>
          <a:off x="352840" y="1943625"/>
          <a:ext cx="836644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1417">
                  <a:extLst>
                    <a:ext uri="{9D8B030D-6E8A-4147-A177-3AD203B41FA5}">
                      <a16:colId xmlns:a16="http://schemas.microsoft.com/office/drawing/2014/main" val="2557347617"/>
                    </a:ext>
                  </a:extLst>
                </a:gridCol>
                <a:gridCol w="1122837">
                  <a:extLst>
                    <a:ext uri="{9D8B030D-6E8A-4147-A177-3AD203B41FA5}">
                      <a16:colId xmlns:a16="http://schemas.microsoft.com/office/drawing/2014/main" val="2319195195"/>
                    </a:ext>
                  </a:extLst>
                </a:gridCol>
                <a:gridCol w="1292371">
                  <a:extLst>
                    <a:ext uri="{9D8B030D-6E8A-4147-A177-3AD203B41FA5}">
                      <a16:colId xmlns:a16="http://schemas.microsoft.com/office/drawing/2014/main" val="100269759"/>
                    </a:ext>
                  </a:extLst>
                </a:gridCol>
                <a:gridCol w="1689652">
                  <a:extLst>
                    <a:ext uri="{9D8B030D-6E8A-4147-A177-3AD203B41FA5}">
                      <a16:colId xmlns:a16="http://schemas.microsoft.com/office/drawing/2014/main" val="1914388555"/>
                    </a:ext>
                  </a:extLst>
                </a:gridCol>
                <a:gridCol w="1333420">
                  <a:extLst>
                    <a:ext uri="{9D8B030D-6E8A-4147-A177-3AD203B41FA5}">
                      <a16:colId xmlns:a16="http://schemas.microsoft.com/office/drawing/2014/main" val="1650913469"/>
                    </a:ext>
                  </a:extLst>
                </a:gridCol>
                <a:gridCol w="1526743">
                  <a:extLst>
                    <a:ext uri="{9D8B030D-6E8A-4147-A177-3AD203B41FA5}">
                      <a16:colId xmlns:a16="http://schemas.microsoft.com/office/drawing/2014/main" val="824048194"/>
                    </a:ext>
                  </a:extLst>
                </a:gridCol>
              </a:tblGrid>
              <a:tr h="63225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Интерпре-тируемость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Учёт сложных зависимостей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Требовательность к данным и настройке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Устойчивость к шуму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Вычислитель-ная сложность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82096"/>
                  </a:ext>
                </a:extLst>
              </a:tr>
              <a:tr h="375128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Методы на основе правил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Низкий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896190"/>
                  </a:ext>
                </a:extLst>
              </a:tr>
              <a:tr h="375128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Методы машинного обучения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Средний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483280"/>
                  </a:ext>
                </a:extLst>
              </a:tr>
              <a:tr h="375128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Нейросетевые методы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Высокий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561469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233AC53-EC45-44D4-B69B-72A381CA68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03243C-896C-8F52-4842-C3585EA14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68303" y="-108537"/>
            <a:ext cx="1774134" cy="2005100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2A835A1-B00D-E466-D636-0A921033C9EA}"/>
              </a:ext>
            </a:extLst>
          </p:cNvPr>
          <p:cNvGrpSpPr/>
          <p:nvPr/>
        </p:nvGrpSpPr>
        <p:grpSpPr>
          <a:xfrm>
            <a:off x="7325484" y="418958"/>
            <a:ext cx="1570943" cy="1102015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84BEFABB-F034-CB21-775D-41EA1749FE46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6F3238EE-CAAE-A354-DB4D-8874E1AB4545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Рисунок 56">
              <a:extLst>
                <a:ext uri="{FF2B5EF4-FFF2-40B4-BE49-F238E27FC236}">
                  <a16:creationId xmlns:a16="http://schemas.microsoft.com/office/drawing/2014/main" id="{DDAABA2F-488C-80A9-49C6-A4A956567022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4889ED3B-9884-3BDD-480A-B6B172BFDB3E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0A2529A0-2840-0561-65AC-1F57BDAAA468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Рисунок 56">
              <a:extLst>
                <a:ext uri="{FF2B5EF4-FFF2-40B4-BE49-F238E27FC236}">
                  <a16:creationId xmlns:a16="http://schemas.microsoft.com/office/drawing/2014/main" id="{E5D63BBF-7D02-43E4-0594-E5926013F1D3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FA8F8DF6-256C-DC4A-321C-6922FD501BF8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BDB3F41D-B3FC-467C-1D5A-BE3874339198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FA615DEF-B6F5-AB20-5A26-F2ED55C63284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5889B96F-BF15-E502-C3C1-D0E71583B5DD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73C653C0-2E90-A1AE-0CA4-A1928253288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91DCAF50-DE32-2A3C-171F-DBCAB9B8BAF8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379F1377-FE44-F4FF-C998-57463BA5C4DE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3479BB58-BDF9-BCB2-18CF-F8DB3BA29745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65498661-DF1D-7AFB-C928-BEE90CE2ADE4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B149336D-199E-8AD8-C921-2F223A1F5726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540D08B5-C646-28F4-0F60-3625C3721D48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5512819D-8D0D-1753-39BA-E10796D04E92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2C5B9B3A-8DF4-170C-9DE4-9D1E7EC74952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5" name="Полилиния: фигура 14">
                <a:extLst>
                  <a:ext uri="{FF2B5EF4-FFF2-40B4-BE49-F238E27FC236}">
                    <a16:creationId xmlns:a16="http://schemas.microsoft.com/office/drawing/2014/main" id="{2F0D01B2-1510-495C-400B-8A5E269FF1E3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5C83894E-1D3A-7162-3485-22927ABF7524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6126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подготовки данных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59C7F27-2308-DF44-2AF3-ACA6BF3175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98F67C-3362-1CB8-D39F-74257B852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1A61EB-34D1-B331-2215-1FE4CFEB08B9}"/>
              </a:ext>
            </a:extLst>
          </p:cNvPr>
          <p:cNvSpPr txBox="1"/>
          <p:nvPr/>
        </p:nvSpPr>
        <p:spPr>
          <a:xfrm>
            <a:off x="575486" y="1455804"/>
            <a:ext cx="39953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и обработка данных были разделены в последовательные этапы, образующие единый конвейер.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568C4F-8350-4572-7E48-28234FC106BB}"/>
              </a:ext>
            </a:extLst>
          </p:cNvPr>
          <p:cNvSpPr txBox="1"/>
          <p:nvPr/>
        </p:nvSpPr>
        <p:spPr>
          <a:xfrm>
            <a:off x="575488" y="2286801"/>
            <a:ext cx="39953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из пунктов был реализован при помощи скриптов на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позволяя вносить изменения в любом месте конвейера.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14C5A3-03B1-D1A6-6D21-0F2A647067D9}"/>
              </a:ext>
            </a:extLst>
          </p:cNvPr>
          <p:cNvSpPr txBox="1"/>
          <p:nvPr/>
        </p:nvSpPr>
        <p:spPr>
          <a:xfrm>
            <a:off x="575485" y="3364019"/>
            <a:ext cx="39953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итоге был сформирован единый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parquet-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файл, содержащий данные, готовые для обучения моделей, подбора параметров и тестирования.</a:t>
            </a:r>
          </a:p>
        </p:txBody>
      </p:sp>
      <p:pic>
        <p:nvPicPr>
          <p:cNvPr id="3" name="Рисунок 2" descr="PlantUML diagram">
            <a:extLst>
              <a:ext uri="{FF2B5EF4-FFF2-40B4-BE49-F238E27FC236}">
                <a16:creationId xmlns:a16="http://schemas.microsoft.com/office/drawing/2014/main" id="{35A785DF-B5BD-2F83-B864-1DB5A6E54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7" y="1148400"/>
            <a:ext cx="3807512" cy="39950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CEA324-DA66-D133-558C-4CE81E866F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68303" y="-108537"/>
            <a:ext cx="1774134" cy="2005100"/>
          </a:xfrm>
          <a:prstGeom prst="rect">
            <a:avLst/>
          </a:prstGeom>
        </p:spPr>
      </p:pic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EBB87F6-2561-0BCC-7D75-9C6AB0A09F76}"/>
              </a:ext>
            </a:extLst>
          </p:cNvPr>
          <p:cNvGrpSpPr/>
          <p:nvPr/>
        </p:nvGrpSpPr>
        <p:grpSpPr>
          <a:xfrm>
            <a:off x="7325484" y="418958"/>
            <a:ext cx="1570943" cy="1102015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D768B5B8-B80F-4D5D-B07D-4ACA498D4A0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Полилиния: фигура 7">
              <a:extLst>
                <a:ext uri="{FF2B5EF4-FFF2-40B4-BE49-F238E27FC236}">
                  <a16:creationId xmlns:a16="http://schemas.microsoft.com/office/drawing/2014/main" id="{9DFEFCBB-0A35-1AAF-6E95-EE314FC8CF20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9" name="Рисунок 56">
              <a:extLst>
                <a:ext uri="{FF2B5EF4-FFF2-40B4-BE49-F238E27FC236}">
                  <a16:creationId xmlns:a16="http://schemas.microsoft.com/office/drawing/2014/main" id="{B4DD59EC-7370-954C-EAC8-9E95E0663905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222B1C61-843A-0E08-9D53-400D2BFFDC5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B7196B6C-E26A-7A12-C35E-76C2BCFC4796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E431C40B-C703-C16B-100E-3EA20AE79ED8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96A4EE8C-CCC5-3C29-C06D-63C7FA08ED9F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0C324171-E52B-D0E9-6324-AB158F7EA30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0CB2D59D-2B9E-AC27-B79D-FF541BA70784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38754995-613A-3ED1-F3A4-D6E6B55E65CF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1AEF2CC5-08FE-60F1-B41A-B3C8EA2841A3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7148F38C-863A-3081-5739-FCD08896983B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05A6EFDA-9F9B-81E1-1F48-E33310601BA3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BC71C012-AF77-F164-FBF2-70C7CA1017BC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A6A1DB40-C2F4-7FE3-3E7C-FB4C94AFAE73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AD366F86-2806-6C8A-077A-9108465C0F39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D8850939-850B-FE79-E38F-AD78B60F81E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FEB98CB7-6D22-ABD6-78A2-48E4B7288BEE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B4330AF3-1173-9912-3E28-2F47DA139ADB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DAF86E9B-76AA-49E7-5985-6076B9DD0DD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C409E8AE-C063-0CE7-1F28-D7114DB126C2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PlantUML diagram">
            <a:extLst>
              <a:ext uri="{FF2B5EF4-FFF2-40B4-BE49-F238E27FC236}">
                <a16:creationId xmlns:a16="http://schemas.microsoft.com/office/drawing/2014/main" id="{F7DD3540-E4C4-77B9-C453-12F942145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63" y="1479873"/>
            <a:ext cx="8436545" cy="2761603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C47A364-9713-6E00-D534-2C7320E8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прогнозирования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4003B6A-9026-03AB-6830-62F25E4D20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CC87F97C-BC01-E6EB-74D2-81FC32A3C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2FEFE4-F0BF-9763-F273-C71A2BE981DF}"/>
              </a:ext>
            </a:extLst>
          </p:cNvPr>
          <p:cNvSpPr txBox="1"/>
          <p:nvPr/>
        </p:nvSpPr>
        <p:spPr>
          <a:xfrm>
            <a:off x="4397414" y="1611343"/>
            <a:ext cx="30651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разделена на два модуля: модуль прогнозирования и модуль принятия решений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EBB138C-C0FC-997D-2226-0BEA039ED5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68303" y="-108537"/>
            <a:ext cx="1774134" cy="2005100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5E26E76-F9E7-9AFE-1163-2A8F2496E4AD}"/>
              </a:ext>
            </a:extLst>
          </p:cNvPr>
          <p:cNvGrpSpPr/>
          <p:nvPr/>
        </p:nvGrpSpPr>
        <p:grpSpPr>
          <a:xfrm>
            <a:off x="7325484" y="418958"/>
            <a:ext cx="1570943" cy="1102015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F60A7DDC-D2CE-B8E3-BDC1-35AEE1CD1BB4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Полилиния: фигура 7">
              <a:extLst>
                <a:ext uri="{FF2B5EF4-FFF2-40B4-BE49-F238E27FC236}">
                  <a16:creationId xmlns:a16="http://schemas.microsoft.com/office/drawing/2014/main" id="{26B1DD01-AF58-8526-D37C-5D0AEE738D85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04CD891A-FB06-FFAC-0CDB-1B3F6B43CCF6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FC82484A-C572-CEFC-0E9F-9CDE3E604EBC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B3555B1E-67FB-2129-F3F1-A81CA3FB5640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55E6C36E-E536-5C12-284C-7C8964B5E406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FFFAF8C6-0F0C-B468-4FAA-7C25A41E7D15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4C9541FB-2DE5-3FBD-E00A-2D42527D5EBC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D96A3D89-D9BC-04D8-4222-4E37A7176B2F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344121EF-DC5A-336E-547B-BBEAB9487EB6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1CD968FF-38B9-0689-1639-DD4BA44A1F04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D2D0B044-18D6-BE24-703A-BE5F4146AE03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9AF0F255-A27A-9655-A284-254E23ACCC17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F71CE01C-C000-084F-40A9-6732C3E97385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A1599EB7-DBB8-3A00-BCB5-32343C9742BB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87FDDB83-59E4-F212-4C4B-2E7990D29A8E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C1CD3222-78DC-5A67-0E44-393F4A55319A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09EEF38F-740D-3FCB-2A2F-7D254ED48E6E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46AD99FF-C453-3CEB-D8EA-F0970A528C16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A04E21CF-5EDF-7681-679F-8772982E37F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3AF89072-7534-5B2D-9078-DF4B44AB498F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2ECFBE8A-78D8-6862-2EE4-1111F47E6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>
            <a:extLst>
              <a:ext uri="{FF2B5EF4-FFF2-40B4-BE49-F238E27FC236}">
                <a16:creationId xmlns:a16="http://schemas.microsoft.com/office/drawing/2014/main" id="{999E019B-5396-0992-D3A2-0E41712440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прогнозирования торговой системы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p19">
            <a:extLst>
              <a:ext uri="{FF2B5EF4-FFF2-40B4-BE49-F238E27FC236}">
                <a16:creationId xmlns:a16="http://schemas.microsoft.com/office/drawing/2014/main" id="{CB5F7715-7052-B331-2A2E-4D9175529C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A9FD7BC-3BDA-42D9-2031-F15A8EA26E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PlantUML diagram">
            <a:extLst>
              <a:ext uri="{FF2B5EF4-FFF2-40B4-BE49-F238E27FC236}">
                <a16:creationId xmlns:a16="http://schemas.microsoft.com/office/drawing/2014/main" id="{3DBD9E49-2A1D-260C-F4D8-47C3892D9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43" y="1531444"/>
            <a:ext cx="8260415" cy="27795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100B28-6BDC-31BE-F6C5-2A14087E465F}"/>
              </a:ext>
            </a:extLst>
          </p:cNvPr>
          <p:cNvSpPr txBox="1"/>
          <p:nvPr/>
        </p:nvSpPr>
        <p:spPr>
          <a:xfrm>
            <a:off x="4696454" y="3431379"/>
            <a:ext cx="36653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прогнозирования объединяет внутри себя все три подхода. Каждому из них даётся одинаковый набор признаков.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 отметить, что прогнозы формируются отдельно для входа в позицию и для удержания позиции.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3D1CE7-D031-9B69-F162-5D049D8DCE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68303" y="-108537"/>
            <a:ext cx="1774134" cy="2005100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64CEA87-CEB0-EF3F-DB63-1F3F7E0A41A2}"/>
              </a:ext>
            </a:extLst>
          </p:cNvPr>
          <p:cNvGrpSpPr/>
          <p:nvPr/>
        </p:nvGrpSpPr>
        <p:grpSpPr>
          <a:xfrm>
            <a:off x="7325484" y="418958"/>
            <a:ext cx="1570943" cy="1102015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A6FD120D-7FE9-291F-56D0-19D99B642018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Полилиния: фигура 7">
              <a:extLst>
                <a:ext uri="{FF2B5EF4-FFF2-40B4-BE49-F238E27FC236}">
                  <a16:creationId xmlns:a16="http://schemas.microsoft.com/office/drawing/2014/main" id="{49FC277A-B41F-E535-E4AC-D9625B859B36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9" name="Рисунок 56">
              <a:extLst>
                <a:ext uri="{FF2B5EF4-FFF2-40B4-BE49-F238E27FC236}">
                  <a16:creationId xmlns:a16="http://schemas.microsoft.com/office/drawing/2014/main" id="{FCA24198-56A1-3D09-E9EA-6CDFB9855FD5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9B60BB7F-E35A-B316-4952-4D3C190D24F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43B85AA6-347B-D9EB-A553-A1B2378534D3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C4A8DA2D-1C33-D3EE-1026-555DC38BD00E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05D28650-AE5C-F795-807D-0A27F39951CE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F67F78C6-8F11-D021-E102-BF0938FADEF6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D88F5C10-BFD9-D5C1-1B09-36ACFE008119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742DCEC7-E71B-1684-BC7B-D3574BC0E9E5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CC87B39B-B3E5-89EF-D262-6BC16BA6CB41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B776C5D5-5FB5-BAF7-F056-D83306ABB41F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DDA99A55-FB70-8B4B-1E9C-4B34252DB5B7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B97216D-3A1C-BCB6-CB0D-32FA6B24AD98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79DC3064-587B-8ADC-B5A6-D52F66127418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41890CD5-E777-18A1-7032-1B33AB337D41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BEE88DA6-21D3-FD7B-B6B2-697DEE47F537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B760C914-E470-9159-C5C4-ECBD7AB01330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8F06113A-329A-7B53-5428-67F715DEF212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6AF99C47-2131-8C16-DD7B-F8555623B8C4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AB2D106B-BA3A-D95D-8640-697B5895C63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98160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4B1C7F8D-8E3B-9F42-EB01-FBA69729A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>
            <a:extLst>
              <a:ext uri="{FF2B5EF4-FFF2-40B4-BE49-F238E27FC236}">
                <a16:creationId xmlns:a16="http://schemas.microsoft.com/office/drawing/2014/main" id="{1142F66E-DF1C-B25F-F499-B90A587904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принятия решений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p19">
            <a:extLst>
              <a:ext uri="{FF2B5EF4-FFF2-40B4-BE49-F238E27FC236}">
                <a16:creationId xmlns:a16="http://schemas.microsoft.com/office/drawing/2014/main" id="{DF5326CD-CCA3-8126-7891-6CC71F7DC1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PlantUML diagram">
            <a:extLst>
              <a:ext uri="{FF2B5EF4-FFF2-40B4-BE49-F238E27FC236}">
                <a16:creationId xmlns:a16="http://schemas.microsoft.com/office/drawing/2014/main" id="{3B522310-3928-727C-4257-60E979209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667" y="909929"/>
            <a:ext cx="2299969" cy="4233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79B106-7732-C916-0784-07C130ABD5AF}"/>
              </a:ext>
            </a:extLst>
          </p:cNvPr>
          <p:cNvSpPr txBox="1"/>
          <p:nvPr/>
        </p:nvSpPr>
        <p:spPr>
          <a:xfrm>
            <a:off x="368877" y="1017725"/>
            <a:ext cx="47560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Каждую минуту алгоритм принятия решений проверяет уже открытые позиции.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Позиция закрывается, если выполняется одно из следующих правил: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 удержания недостаточен для продолжения позиции;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Достигнут лимит удержания позиции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 минут.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764591-A864-C706-2CBE-5A01B2EFC76F}"/>
              </a:ext>
            </a:extLst>
          </p:cNvPr>
          <p:cNvSpPr txBox="1"/>
          <p:nvPr/>
        </p:nvSpPr>
        <p:spPr>
          <a:xfrm>
            <a:off x="441614" y="2614672"/>
            <a:ext cx="3673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этого проверяется возможность открытия новых позиций.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9CE6BD-DE74-6BE1-D7FE-39DE76E56073}"/>
              </a:ext>
            </a:extLst>
          </p:cNvPr>
          <p:cNvSpPr txBox="1"/>
          <p:nvPr/>
        </p:nvSpPr>
        <p:spPr>
          <a:xfrm>
            <a:off x="368877" y="3187372"/>
            <a:ext cx="37459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Покупка выполняется, если выполнены все следующие условия: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 входа выше экспериментально подобранного порога;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Ожидаемая чистая доходность после издержек положительная;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нарушены ограничения по капиталу и числу позиций.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B31E7D5-67C9-3255-2463-94EBCBAB4C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1F54A7-C17B-C579-CC53-3090D8C682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68303" y="-108537"/>
            <a:ext cx="1774134" cy="2005100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D18488D-0A41-ECBC-37F0-B6B3ADC2E76C}"/>
              </a:ext>
            </a:extLst>
          </p:cNvPr>
          <p:cNvGrpSpPr/>
          <p:nvPr/>
        </p:nvGrpSpPr>
        <p:grpSpPr>
          <a:xfrm>
            <a:off x="7325484" y="418958"/>
            <a:ext cx="1570943" cy="1102015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9A091C0E-5AC2-A94D-E36C-B73110A0BF03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10257AE9-FA3F-2801-C786-4C3B2B72F3A7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31A09256-4E38-2670-174E-08215645CDE8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8F46E326-A025-597E-EC9A-D85819120E75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C543CAF3-C382-18B3-9421-5466D174EEE7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71690418-C918-ECA5-E8F6-DA3823C1FFF6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E0CC89CC-3971-5F4F-C0CF-EFF7B70AEFDE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8C96511A-694B-845F-29C3-5D91CD311C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29EE9C0B-3C51-3928-CCB0-CCCD29416AB5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ECFEFC85-337C-91D1-807D-EB24A6EAEEDF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FF03F811-71E3-5B19-CDA4-AC09F79649E0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7C69B19F-35ED-5A4D-31F6-7648B93B4A37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37D45A02-299A-2257-C254-BA426549F9D7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ECE35A25-8D82-96D8-69F8-BAB880626BFE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F2D98E36-CF75-D9D2-DA78-444EC94E8F3B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94FAAD04-1EE9-6541-96EE-950D317577CC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C380F812-C907-415A-C227-B17C5EE7D78E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DF18D4B9-A8AC-7D5F-4461-9530436C05EC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E87E2F64-C772-B502-2AF3-591ACD4B484A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CB188DAC-E20A-9501-8D4A-5D082D768F67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CE87D1DA-CE5E-1D82-9F00-E3A674F466D7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63201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C49FF1-26AC-DD15-A198-2F9FD5472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99" y="45020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ru-RU" dirty="0"/>
              <a:t>Отношение конечного капитала к начальному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E48963-E4DF-A3BA-D63D-D8D596F34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052CAE-7E3B-402D-385B-0BA2A23208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10</a:t>
            </a:fld>
            <a:endParaRPr lang="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C646AA5-9FB7-2B0B-D985-972744AD0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2903"/>
            <a:ext cx="7348806" cy="40990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761DC9-44E8-BAC9-B2CA-9A20DD9A71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68303" y="-108537"/>
            <a:ext cx="1774134" cy="2005100"/>
          </a:xfrm>
          <a:prstGeom prst="rect">
            <a:avLst/>
          </a:prstGeom>
        </p:spPr>
      </p:pic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0BB6B2C-7CA1-6C18-9CA7-649BC42486FA}"/>
              </a:ext>
            </a:extLst>
          </p:cNvPr>
          <p:cNvGrpSpPr/>
          <p:nvPr/>
        </p:nvGrpSpPr>
        <p:grpSpPr>
          <a:xfrm>
            <a:off x="7325484" y="418958"/>
            <a:ext cx="1570943" cy="1102015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652472EF-4A16-8D47-0F80-CDE43A9C3F68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52B9F9E0-CF90-2A2E-E3A6-4E5A11E1B06F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8BEC6F35-9D7E-CEBA-3F1B-D63576D04618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97B5EA34-B1FF-ED00-06F1-3E2DAEB1C36D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B781FC3B-A76D-E288-1A11-AF6B8D6807A3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D7DD4DC2-90AA-B7F9-ACEA-0FEF1D5DF2A2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7FB3B211-53BA-FA1B-8AC2-13A60FE27465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9E903467-84FA-622F-CD5B-8E09BDACDE10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34213CC2-4C08-702E-2AA9-B747DC256FE7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976CACBC-D6EC-847D-BC53-7E3A2AF80A84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A4DF2C4F-B9DB-D11B-E97D-3FC5598DFB14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5C0EB267-4E5F-BA3F-1D7B-F6D4A1B3DB34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9EBF4187-57C1-3384-34DA-F531194C3237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CC3A9F63-E40F-4B1B-F628-E393E4BC83F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5B7BA937-4687-A11A-A844-386325C70FF3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C3A1D44D-2A36-1074-CFFF-07DE7F5BC32E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C16155EE-DC29-6440-3928-2BC3A13448F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869619E8-8AFF-66DF-04A8-1A34C68A975E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69B9DF4A-1232-7704-C8FA-EC05219EF38F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862E2C65-7D53-16B1-CF69-DDD95DBC7F9F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86813A10-765F-893F-EE5D-8C0E9258B62C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14008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B90F1-F2E3-CDD6-86A3-1F740BE2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Максимальная просадка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93CB88-BEA4-9553-AFDD-A38FF905F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2C797C-78BF-2450-38C9-622693BBE9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11</a:t>
            </a:fld>
            <a:endParaRPr lang="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7307881-57EA-5B83-DBA7-6F45A4D89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7726"/>
            <a:ext cx="7349986" cy="409967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C8E68E-14F9-177B-B338-055C70AF5A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68303" y="-108537"/>
            <a:ext cx="1774134" cy="2005100"/>
          </a:xfrm>
          <a:prstGeom prst="rect">
            <a:avLst/>
          </a:prstGeom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531E3259-7528-9493-23BF-BB3A03C95D8D}"/>
              </a:ext>
            </a:extLst>
          </p:cNvPr>
          <p:cNvGrpSpPr/>
          <p:nvPr/>
        </p:nvGrpSpPr>
        <p:grpSpPr>
          <a:xfrm>
            <a:off x="7325484" y="418958"/>
            <a:ext cx="1570943" cy="1102015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8" name="Полилиния: фигура 7">
              <a:extLst>
                <a:ext uri="{FF2B5EF4-FFF2-40B4-BE49-F238E27FC236}">
                  <a16:creationId xmlns:a16="http://schemas.microsoft.com/office/drawing/2014/main" id="{A5BBB8D4-F6FA-9740-4709-8391193741B6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817FD7F4-9197-4D65-2C15-934ABE9FB52D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F2228AF2-E7DD-C532-1EA6-90D52652118B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F6C7B65B-FF37-0680-A0E5-3520D9D8F10B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63603B1E-C92C-FBE1-41DB-2F9118F099A1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A91B4EFD-B35B-615B-AC43-77EAB9C90447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45E27F30-C18B-008B-CAC7-610136C16535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DCDA856B-6C34-5EF1-2EE3-06D6636BF4C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4D61C8C8-1D57-187B-CF12-B0C3FB27D8FA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82D3F935-C04B-87B5-814F-8BD94A12066E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0CFA3A57-95C3-365C-CFEB-0DDBB6E1BB06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99ACEA68-395B-2BD6-0B4B-455286D22E9D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7F80B482-ACB2-7310-9E73-71F7F32D7DF9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03CAA266-96DC-7395-9059-26A381392057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EECF32E1-C3D7-2041-4E9A-9B8490EC7F70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1B37E3B8-FB29-1559-8799-C9F943146255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75253442-2ACF-2984-231F-8A6A01C8595F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8DA6168F-97B0-85E3-F6FE-BC62CA3828EB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A408A097-7B28-BCC0-6C99-0B41EE44F8F3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A7DD1033-B1AF-9F31-838F-1134C48717FF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C8E288F1-0515-1E0E-97DB-095A90FA24DA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B00B471-F7C4-A44D-CFB8-366DE201D2B0}"/>
              </a:ext>
            </a:extLst>
          </p:cNvPr>
          <p:cNvSpPr txBox="1"/>
          <p:nvPr/>
        </p:nvSpPr>
        <p:spPr>
          <a:xfrm>
            <a:off x="4552375" y="3318711"/>
            <a:ext cx="1684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просадка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27F837-3173-4BD3-57B7-F045A58C7304}"/>
              </a:ext>
            </a:extLst>
          </p:cNvPr>
          <p:cNvSpPr txBox="1"/>
          <p:nvPr/>
        </p:nvSpPr>
        <p:spPr>
          <a:xfrm>
            <a:off x="5890662" y="3325752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77300C-60EE-4506-50A5-06803DA18C07}"/>
              </a:ext>
            </a:extLst>
          </p:cNvPr>
          <p:cNvSpPr txBox="1"/>
          <p:nvPr/>
        </p:nvSpPr>
        <p:spPr>
          <a:xfrm>
            <a:off x="5961625" y="2913367"/>
            <a:ext cx="3018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текущий максимум капитала - текущее значение капитала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73B32CFF-6A47-92C3-5988-7EA2B76E0CCD}"/>
              </a:ext>
            </a:extLst>
          </p:cNvPr>
          <p:cNvCxnSpPr>
            <a:cxnSpLocks/>
          </p:cNvCxnSpPr>
          <p:nvPr/>
        </p:nvCxnSpPr>
        <p:spPr>
          <a:xfrm>
            <a:off x="6388082" y="3476395"/>
            <a:ext cx="20766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7AA345B-1E06-C484-C6EF-1E015854EEC6}"/>
              </a:ext>
            </a:extLst>
          </p:cNvPr>
          <p:cNvSpPr txBox="1"/>
          <p:nvPr/>
        </p:nvSpPr>
        <p:spPr>
          <a:xfrm>
            <a:off x="6158614" y="3473667"/>
            <a:ext cx="2624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текущий максимум капитала</a:t>
            </a:r>
          </a:p>
        </p:txBody>
      </p:sp>
    </p:spTree>
    <p:extLst>
      <p:ext uri="{BB962C8B-B14F-4D97-AF65-F5344CB8AC3E}">
        <p14:creationId xmlns:p14="http://schemas.microsoft.com/office/powerpoint/2010/main" val="2509854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7C6F4-56E2-FFD5-4A9C-E3CD319A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Количество сделок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F4C27C-A442-8FCD-C82A-B5C58F662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CC645E-AC89-1874-EB45-9199A8F5C1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12</a:t>
            </a:fld>
            <a:endParaRPr lang="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303E31-717A-2AB5-4B10-0A869B0CB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7725"/>
            <a:ext cx="7359144" cy="410323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5FAF9C-EE5C-E34A-30BC-DE6BB58E2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68303" y="-108537"/>
            <a:ext cx="1774134" cy="2005100"/>
          </a:xfrm>
          <a:prstGeom prst="rect">
            <a:avLst/>
          </a:prstGeom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76DE8885-3BD7-D375-F5C2-22925CA6F85A}"/>
              </a:ext>
            </a:extLst>
          </p:cNvPr>
          <p:cNvGrpSpPr/>
          <p:nvPr/>
        </p:nvGrpSpPr>
        <p:grpSpPr>
          <a:xfrm>
            <a:off x="7325484" y="418958"/>
            <a:ext cx="1570943" cy="1102015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8" name="Полилиния: фигура 7">
              <a:extLst>
                <a:ext uri="{FF2B5EF4-FFF2-40B4-BE49-F238E27FC236}">
                  <a16:creationId xmlns:a16="http://schemas.microsoft.com/office/drawing/2014/main" id="{E3F361AC-5331-E505-A135-93C560B85BE9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640BB4AC-A4D0-B201-BAD6-5FA50F0A03C0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3440ADBD-C15A-8C01-F726-2483891A36D2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341C5F21-EC0F-54AC-CF2B-CD9AF7FCB422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2C3E5D38-9194-6D2B-8484-56372955B3D3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AA83FBB7-1EAD-D95E-832D-7B1D95B1BDE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397EF9EC-39F5-F894-9ED5-2BD969CDF423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CE9D6FBC-87F5-A3F8-914B-39FFC31A75C2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B79F54AA-7AB1-5DC0-6373-A1FFDDF7CFC7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60FCE360-2004-BC28-E369-3DA67D9B4D62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52D67EEE-91E6-702F-BBB5-A183CC50CB52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BB3FE12F-66BA-313B-5C18-0BFC1B194A5E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7E203BAF-0E2F-1BBC-A110-CA308AE31818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249DDB1E-D795-5786-5FE0-121471FE4E01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4D962BA5-27C4-4BDA-AC22-27A6CB5CAB97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AFEF65D7-38AB-926F-FD57-1765BD757589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E5992FC9-67EA-460A-A5DB-BD0BE1E269E0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7D66E473-30B3-F4F7-459E-C53B0F98B081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0EF134B4-CA36-8E0F-D52D-BFD4ACA5C7A3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6EC430FA-0FA0-479D-3409-FA96A0FD7CB3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A6AEE39C-2E9D-B724-70D7-CE94916FB0CE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5136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B6367E-E0A2-08EA-0643-1D73D347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Доходность на единицу просадки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7441F4-C8FC-2C19-DDEA-6B600D13F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C3F68F-DD11-6535-6B6A-0AEFE2683B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13</a:t>
            </a:fld>
            <a:endParaRPr lang="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8BA265-EB56-0914-2570-D6758DE1B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7725"/>
            <a:ext cx="7359145" cy="41032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85E006-5241-60DB-44A6-5C63FA7CB2EC}"/>
              </a:ext>
            </a:extLst>
          </p:cNvPr>
          <p:cNvSpPr txBox="1"/>
          <p:nvPr/>
        </p:nvSpPr>
        <p:spPr>
          <a:xfrm>
            <a:off x="3261900" y="2963525"/>
            <a:ext cx="1684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Доходность на единицу просадки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3AA3B7-42FE-02E9-9128-B4DA3C1572EE}"/>
              </a:ext>
            </a:extLst>
          </p:cNvPr>
          <p:cNvSpPr txBox="1"/>
          <p:nvPr/>
        </p:nvSpPr>
        <p:spPr>
          <a:xfrm>
            <a:off x="4114800" y="2114550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E24BD4-ED62-77E4-B337-AA7011376D08}"/>
              </a:ext>
            </a:extLst>
          </p:cNvPr>
          <p:cNvSpPr txBox="1"/>
          <p:nvPr/>
        </p:nvSpPr>
        <p:spPr>
          <a:xfrm>
            <a:off x="4862099" y="3074492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41881B-6C34-4F12-9183-B29DC014FDE4}"/>
              </a:ext>
            </a:extLst>
          </p:cNvPr>
          <p:cNvSpPr txBox="1"/>
          <p:nvPr/>
        </p:nvSpPr>
        <p:spPr>
          <a:xfrm>
            <a:off x="5105705" y="2914113"/>
            <a:ext cx="2181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итоговая доходность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95402C41-8A65-619B-9EA9-51BBA9E47DC9}"/>
              </a:ext>
            </a:extLst>
          </p:cNvPr>
          <p:cNvCxnSpPr>
            <a:cxnSpLocks/>
          </p:cNvCxnSpPr>
          <p:nvPr/>
        </p:nvCxnSpPr>
        <p:spPr>
          <a:xfrm>
            <a:off x="5150961" y="3225135"/>
            <a:ext cx="20766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B7A9F6F-22FF-4C22-E7AE-656BC7A38461}"/>
              </a:ext>
            </a:extLst>
          </p:cNvPr>
          <p:cNvSpPr txBox="1"/>
          <p:nvPr/>
        </p:nvSpPr>
        <p:spPr>
          <a:xfrm>
            <a:off x="5006530" y="3222407"/>
            <a:ext cx="2379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|</a:t>
            </a:r>
            <a:r>
              <a:rPr lang="ru-RU" dirty="0"/>
              <a:t>максимальная просадка</a:t>
            </a:r>
            <a:r>
              <a:rPr lang="en-US" dirty="0"/>
              <a:t>|</a:t>
            </a:r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38E8B3A-B1E9-A779-D53E-835BC5518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68303" y="-108537"/>
            <a:ext cx="1774134" cy="2005100"/>
          </a:xfrm>
          <a:prstGeom prst="rect">
            <a:avLst/>
          </a:prstGeom>
        </p:spPr>
      </p:pic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12575AF2-B900-7D19-A8A0-AD3831971C08}"/>
              </a:ext>
            </a:extLst>
          </p:cNvPr>
          <p:cNvGrpSpPr/>
          <p:nvPr/>
        </p:nvGrpSpPr>
        <p:grpSpPr>
          <a:xfrm>
            <a:off x="7325484" y="418958"/>
            <a:ext cx="1570943" cy="1102015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05BA530-D243-8C55-722E-07129184BB96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F5799399-08C8-CE60-16D9-5F98A18FC9E1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7868C457-2040-43CD-F4D7-B9FE46199B73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8" name="Полилиния: фигура 37">
                <a:extLst>
                  <a:ext uri="{FF2B5EF4-FFF2-40B4-BE49-F238E27FC236}">
                    <a16:creationId xmlns:a16="http://schemas.microsoft.com/office/drawing/2014/main" id="{1F9C95EB-855D-D4F8-42C6-2DED4A5108C2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9" name="Полилиния: фигура 38">
                <a:extLst>
                  <a:ext uri="{FF2B5EF4-FFF2-40B4-BE49-F238E27FC236}">
                    <a16:creationId xmlns:a16="http://schemas.microsoft.com/office/drawing/2014/main" id="{60E8404F-4616-E850-447A-4BF23D94A134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Рисунок 56">
              <a:extLst>
                <a:ext uri="{FF2B5EF4-FFF2-40B4-BE49-F238E27FC236}">
                  <a16:creationId xmlns:a16="http://schemas.microsoft.com/office/drawing/2014/main" id="{BBEA13D5-BC53-458A-A7DE-75DC44DB5790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6" name="Полилиния: фигура 35">
                <a:extLst>
                  <a:ext uri="{FF2B5EF4-FFF2-40B4-BE49-F238E27FC236}">
                    <a16:creationId xmlns:a16="http://schemas.microsoft.com/office/drawing/2014/main" id="{D92EDA61-42FD-0A63-077A-69505F3BC101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5E96D74B-DA18-500B-1E7E-0B322AC7A59E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97296FB7-41E6-0ACC-33A8-CC103C0DC956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4" name="Рисунок 56">
              <a:extLst>
                <a:ext uri="{FF2B5EF4-FFF2-40B4-BE49-F238E27FC236}">
                  <a16:creationId xmlns:a16="http://schemas.microsoft.com/office/drawing/2014/main" id="{E2B14E80-4A54-8ECE-C98A-464A625A7E61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34" name="Полилиния: фигура 33">
                <a:extLst>
                  <a:ext uri="{FF2B5EF4-FFF2-40B4-BE49-F238E27FC236}">
                    <a16:creationId xmlns:a16="http://schemas.microsoft.com/office/drawing/2014/main" id="{75BAC184-DF89-8B5F-13C7-DD58DCB83426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5" name="Полилиния: фигура 34">
                <a:extLst>
                  <a:ext uri="{FF2B5EF4-FFF2-40B4-BE49-F238E27FC236}">
                    <a16:creationId xmlns:a16="http://schemas.microsoft.com/office/drawing/2014/main" id="{7282926B-6D69-BCA1-65A3-B8E5A21052CA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11E7E134-B11E-BFD1-F87C-6B21D4CD6762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32" name="Полилиния: фигура 31">
                <a:extLst>
                  <a:ext uri="{FF2B5EF4-FFF2-40B4-BE49-F238E27FC236}">
                    <a16:creationId xmlns:a16="http://schemas.microsoft.com/office/drawing/2014/main" id="{81F41B6D-355C-204E-D678-C06864168017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Полилиния: фигура 32">
                <a:extLst>
                  <a:ext uri="{FF2B5EF4-FFF2-40B4-BE49-F238E27FC236}">
                    <a16:creationId xmlns:a16="http://schemas.microsoft.com/office/drawing/2014/main" id="{8255CF14-64FE-3CC8-E648-A18E11B2A2C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6913226F-9246-0433-9C2C-BB6B5A0F0B7F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D56CC136-9D7E-C48F-5E27-F121A3CF4F54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467006F5-FBE6-91A7-5940-DE96FF0682F1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5F63A359-6C9B-F668-FB4B-F7DAFE5865D6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BA7C96CA-2495-DA25-2A39-C35142359B0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9ABD0AF8-1E86-107A-7C56-79E04E126E72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3C0529-3071-3420-FD27-463C6437B786}"/>
              </a:ext>
            </a:extLst>
          </p:cNvPr>
          <p:cNvSpPr txBox="1"/>
          <p:nvPr/>
        </p:nvSpPr>
        <p:spPr>
          <a:xfrm>
            <a:off x="3140631" y="3766200"/>
            <a:ext cx="3731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dirty="0"/>
              <a:t>Чем выше значение, тем лучше соотношение прибыли и риска</a:t>
            </a:r>
          </a:p>
        </p:txBody>
      </p:sp>
    </p:spTree>
    <p:extLst>
      <p:ext uri="{BB962C8B-B14F-4D97-AF65-F5344CB8AC3E}">
        <p14:creationId xmlns:p14="http://schemas.microsoft.com/office/powerpoint/2010/main" val="367071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E7369D1-48E8-CAD5-3805-87DA48141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D2C9E1-D917-077D-F9D3-6D272068B7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14</a:t>
            </a:fld>
            <a:endParaRPr lang="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F7703C3-8B1F-9492-7869-F2F2543FA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303953"/>
            <a:ext cx="6967330" cy="368765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7F1CDD-C39E-A69C-CE7A-043D76B19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68303" y="-108537"/>
            <a:ext cx="1774134" cy="2005100"/>
          </a:xfrm>
          <a:prstGeom prst="rect">
            <a:avLst/>
          </a:prstGeom>
        </p:spPr>
      </p:pic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2B3EDB85-5A79-4B55-D625-7DA9990C068C}"/>
              </a:ext>
            </a:extLst>
          </p:cNvPr>
          <p:cNvGrpSpPr/>
          <p:nvPr/>
        </p:nvGrpSpPr>
        <p:grpSpPr>
          <a:xfrm>
            <a:off x="7325484" y="418958"/>
            <a:ext cx="1570943" cy="1102015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F0F1120E-BE6B-1BFE-F4E6-4C4B4DC4F1C4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7D8F3D64-A11B-7178-0725-19C8F84C3EE4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8DAAD4BD-38F9-3052-4E79-742F27534865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F469FA91-8675-EE24-1D46-3C7215039508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DDEED5D5-1F7C-019E-C64E-9DA2FAD03950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6C3C7711-F2DC-916A-BAB6-0CB92A9C68C2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2DFEC603-CF70-B8FC-8551-A0D4CD3CE33F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1DDEBA25-4F49-A747-5A8B-89BE63E9F7EB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4970D015-9C46-F8BC-9791-FE3D65EC07BD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2D58CB85-2DF5-0B7D-8671-650DE8263DD8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6F447E1B-295F-EF59-5BED-3B957201D4B5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4BBF8AE-534A-3F95-C148-537D936D4684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BA0A323B-9248-F100-F5C9-F78D5E0CBE81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CC8EB911-AA0F-5775-4A66-77835632BC12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8E8E6B7D-B977-2457-DDBA-F1514AC1AB17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A597377C-9338-F120-80F7-0BEC53E9C1F0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37BF2209-8A97-58DE-5692-7E55D45A3954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0EE9D2A-33D7-3B47-F7A5-3E136E091F66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FAA389C4-1CA6-2B4C-7AEF-98ED7D8FA1C2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D1B36F8A-0B2B-4407-0642-41BAEEB6FC32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04201395-2358-BC83-548F-F2C6BD9E8E39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81EF2C-F30F-FD33-63C4-004C6B742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297" y="452407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ru-RU" dirty="0"/>
              <a:t>Сравнение эффективности</a:t>
            </a:r>
            <a:br>
              <a:rPr lang="ru-RU" dirty="0"/>
            </a:br>
            <a:r>
              <a:rPr lang="ru-RU" dirty="0"/>
              <a:t>при издержках 0,03%</a:t>
            </a:r>
          </a:p>
        </p:txBody>
      </p:sp>
    </p:spTree>
    <p:extLst>
      <p:ext uri="{BB962C8B-B14F-4D97-AF65-F5344CB8AC3E}">
        <p14:creationId xmlns:p14="http://schemas.microsoft.com/office/powerpoint/2010/main" val="1723193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работы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1"/>
          </p:nvPr>
        </p:nvSpPr>
        <p:spPr>
          <a:xfrm>
            <a:off x="311700" y="1051200"/>
            <a:ext cx="8520600" cy="3915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 анализ предметной области и существующих подходов;</a:t>
            </a:r>
          </a:p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Подготовлен набор минутных данных Московской биржи;</a:t>
            </a:r>
          </a:p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конвейер обработки данных и формирования признаков;</a:t>
            </a:r>
          </a:p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модели прогнозирования краткосрочной доходности;</a:t>
            </a:r>
          </a:p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модуль принятия торговых решений;</a:t>
            </a:r>
          </a:p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историческое тестирование и оценены результаты по прибыли, просадке и числу сделок.</a:t>
            </a: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Итог: разработана система алгоритмического онлайн-трейдинга, повышающая его эффективность.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8426328-83D2-0A5E-400A-64C200238F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C9C289-8C33-56BC-B755-65DB3EA21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68303" y="-108537"/>
            <a:ext cx="1774134" cy="2005100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391A0E5-1CB3-A634-D047-285176F33A83}"/>
              </a:ext>
            </a:extLst>
          </p:cNvPr>
          <p:cNvGrpSpPr/>
          <p:nvPr/>
        </p:nvGrpSpPr>
        <p:grpSpPr>
          <a:xfrm>
            <a:off x="7325484" y="418958"/>
            <a:ext cx="1570943" cy="1102015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8AB949EA-D0A3-8B56-AC5A-118247D96A58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F6D7471F-71C9-7DE0-1C7D-149E78CD6445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7" name="Рисунок 56">
              <a:extLst>
                <a:ext uri="{FF2B5EF4-FFF2-40B4-BE49-F238E27FC236}">
                  <a16:creationId xmlns:a16="http://schemas.microsoft.com/office/drawing/2014/main" id="{A167880C-0FE6-EFDC-0D8A-BA1372FECBA5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B3B28878-1B44-7BB1-3198-61B9AA8E68AC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6EEFB85F-4847-D8F8-3B1B-E59001BF853B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Рисунок 56">
              <a:extLst>
                <a:ext uri="{FF2B5EF4-FFF2-40B4-BE49-F238E27FC236}">
                  <a16:creationId xmlns:a16="http://schemas.microsoft.com/office/drawing/2014/main" id="{F16C6555-146C-5E0A-835E-ACC9C2870BD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313FE547-F385-F77A-4005-5F58EFEBB810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F914FCF9-02BE-D735-153C-8156197AB036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7A25D17F-5966-9263-1A1B-D4C3C50589D1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751930D0-A64F-38FE-6C7E-D9395B9954E3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B570866-FDE9-BC0C-5A17-3F3C8674E515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20217C3E-9076-8C5C-CE9A-1AC9B13EC97B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DA8FAC75-27FD-C66B-C705-B379247FCE70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6CBD5A8C-74A1-5258-3FDD-F2C4891ED4F5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74EE506F-F173-8D56-4C8F-760F3B90D5CC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BEB81BA8-5CA2-A253-B858-4FF4CF87CB0C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0F4AB37E-0415-2649-79F1-E53224DB65D2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E7915AD1-811C-17E2-FA0A-C5C881C19F93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5D09E291-6A2C-EA6B-204A-E620C3A25B6E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4" name="Полилиния: фигура 13">
                <a:extLst>
                  <a:ext uri="{FF2B5EF4-FFF2-40B4-BE49-F238E27FC236}">
                    <a16:creationId xmlns:a16="http://schemas.microsoft.com/office/drawing/2014/main" id="{60F068DC-01A8-1F6E-5068-5B26E4583C06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" name="Полилиния: фигура 14">
                <a:extLst>
                  <a:ext uri="{FF2B5EF4-FFF2-40B4-BE49-F238E27FC236}">
                    <a16:creationId xmlns:a16="http://schemas.microsoft.com/office/drawing/2014/main" id="{96A32A21-5A21-6BD3-5501-1DCD684E2C9C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1797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1082</TotalTime>
  <Words>555</Words>
  <Application>Microsoft Office PowerPoint</Application>
  <PresentationFormat>Экран (16:9)</PresentationFormat>
  <Paragraphs>115</Paragraphs>
  <Slides>16</Slides>
  <Notes>10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Times New Roman</vt:lpstr>
      <vt:lpstr>Simple Light</vt:lpstr>
      <vt:lpstr>Слайд think-cell</vt:lpstr>
      <vt:lpstr>Тема: Алгоритмический онлайн-трейдинг с использованием технологий искусственного интеллекта</vt:lpstr>
      <vt:lpstr>Актуальность:</vt:lpstr>
      <vt:lpstr>Цель работы: повышение эффективности алгоритмического трейдинга</vt:lpstr>
      <vt:lpstr>Общий подход к решению задачи</vt:lpstr>
      <vt:lpstr>Сравнение методов прогнозирования</vt:lpstr>
      <vt:lpstr>Метод подготовки данных</vt:lpstr>
      <vt:lpstr>Модуль прогнозирования</vt:lpstr>
      <vt:lpstr>Модуль прогнозирования торговой системы</vt:lpstr>
      <vt:lpstr>Модуль принятия решений</vt:lpstr>
      <vt:lpstr>Отношение конечного капитала к начальному</vt:lpstr>
      <vt:lpstr>Максимальная просадка</vt:lpstr>
      <vt:lpstr>Количество сделок</vt:lpstr>
      <vt:lpstr>Доходность на единицу просадки</vt:lpstr>
      <vt:lpstr>Сравнение эффективности при издержках 0,03%</vt:lpstr>
      <vt:lpstr>Результаты работы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Кирилл Петров</cp:lastModifiedBy>
  <cp:revision>95</cp:revision>
  <dcterms:modified xsi:type="dcterms:W3CDTF">2026-06-03T06:37:03Z</dcterms:modified>
</cp:coreProperties>
</file>